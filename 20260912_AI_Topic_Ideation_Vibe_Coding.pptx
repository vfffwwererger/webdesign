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80" r:id="rId6"/>
    <p:sldId id="260" r:id="rId7"/>
    <p:sldId id="281" r:id="rId8"/>
    <p:sldId id="282" r:id="rId9"/>
    <p:sldId id="261" r:id="rId10"/>
    <p:sldId id="278" r:id="rId11"/>
    <p:sldId id="262" r:id="rId12"/>
    <p:sldId id="279" r:id="rId13"/>
    <p:sldId id="263" r:id="rId14"/>
    <p:sldId id="283" r:id="rId15"/>
    <p:sldId id="264" r:id="rId16"/>
    <p:sldId id="284" r:id="rId17"/>
    <p:sldId id="285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16" d="100"/>
          <a:sy n="116" d="100"/>
        </p:scale>
        <p:origin x="8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8134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開場介紹上午 3 小時學習目標：如何將模糊想法變成落地專題網站。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簡述今日上午四個單元，強調做小、做完、做可驗收。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強調 Vibe Coding 不是把腦袋外包，而是人與 AI 的精準分工。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說明「能開畫面」不等於「功能完成」，注重交付與維護性。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引導學生在請 AI 寫 Code 之前，先完成這 4 個思維步驟。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展示開發任務卡範本，這是學生寫 Prompt 之前的規格藍圖。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介紹 Google AI Studio 工作區，強調即時 Preview 與 Export 兩大優勢。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講解 7 步協作流程，讓學生有章可循，不會無頭蒼蠅式對話。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說明具體 Prompt 的結構，教學生擺脫「幫我做一個網站」的模糊問法。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透過對比示範，讓學生深刻體會「限制」與「最小修改」的重要性。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特別強調資安規範，防止學生在練習時洩漏真實敏感資訊。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發起第一個課堂實作，引導學生在 Google AI Studio 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教學生如何高效除錯，強調提供完整重現步驟與 Console 證據。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帶領同學進行同儕互測，練習真實軟體驗收流程。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介紹成果發表分組題目，讓各組選定主題開始專題發想。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解析專題 A 的詳細規格與 MVP 驗收條件。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解析專題 B 的詳細規格與 MVP 驗收條件。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解析專題 C 的詳細規格與 MVP 驗收條件。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解析專題 D 的詳細規格與 MVP 驗收條件。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指示分組發想步驟，引導各組完成第一版專題產出。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總結上午關鍵心法，預告下午將學習 Git、GitHub 與 Vercel 上線。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承上啟下，引導學生準備午休並期待下午的部署與發表。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2895" cy="112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600" b="1">
                <a:solidFill>
                  <a:srgbClr val="F1F5F9"/>
                </a:solidFill>
                <a:latin typeface="Georgia"/>
              </a:defRPr>
            </a:pPr>
            <a:r>
              <a:rPr dirty="0"/>
              <a:t>AI </a:t>
            </a:r>
            <a:r>
              <a:rPr dirty="0" err="1"/>
              <a:t>專題發想及</a:t>
            </a:r>
            <a:r>
              <a:rPr dirty="0"/>
              <a:t> Vibe Coding </a:t>
            </a:r>
            <a:r>
              <a:rPr dirty="0" err="1"/>
              <a:t>應用開發</a:t>
            </a:r>
            <a:endParaRPr dirty="0"/>
          </a:p>
          <a:p>
            <a:pPr>
              <a:defRPr sz="1800">
                <a:solidFill>
                  <a:srgbClr val="0284C7"/>
                </a:solidFill>
                <a:latin typeface="Verdana"/>
              </a:defRPr>
            </a:pPr>
            <a:r>
              <a:rPr dirty="0" err="1"/>
              <a:t>從使用者痛點、MVP</a:t>
            </a:r>
            <a:r>
              <a:rPr dirty="0"/>
              <a:t> </a:t>
            </a:r>
            <a:r>
              <a:rPr dirty="0" err="1"/>
              <a:t>需求拆解到</a:t>
            </a:r>
            <a:r>
              <a:rPr dirty="0"/>
              <a:t> AI Studio </a:t>
            </a:r>
            <a:r>
              <a:rPr dirty="0" err="1"/>
              <a:t>靈敏原型實作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914400" y="4754880"/>
            <a:ext cx="10362895" cy="50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Verdana"/>
              </a:defRPr>
            </a:pPr>
            <a:r>
              <a:t>上午課程：AI 專題發想及 VIBE CODING 應用開發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Georgia"/>
              </a:defRPr>
            </a:pPr>
            <a:r>
              <a:t>上午課程地圖：三小時完成一個可操作原型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24200" y="1645920"/>
            <a:ext cx="2630354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284C7"/>
                </a:solidFill>
                <a:latin typeface="Georgia"/>
              </a:defRPr>
            </a:pPr>
            <a:r>
              <a:rPr dirty="0" err="1"/>
              <a:t>單元一：觀念範疇</a:t>
            </a:r>
            <a:endParaRPr dirty="0"/>
          </a:p>
          <a:p>
            <a:pPr>
              <a:spcAft>
                <a:spcPts val="800"/>
              </a:spcAft>
              <a:defRPr sz="1200" b="1">
                <a:solidFill>
                  <a:srgbClr val="D97706"/>
                </a:solidFill>
                <a:latin typeface="Verdana"/>
              </a:defRPr>
            </a:pPr>
            <a:r>
              <a:rPr dirty="0"/>
              <a:t>0:00 - 0:45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rPr dirty="0"/>
              <a:t>• Vibe Coding </a:t>
            </a:r>
            <a:r>
              <a:rPr dirty="0" err="1"/>
              <a:t>正確心態</a:t>
            </a: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rPr dirty="0"/>
              <a:t>• </a:t>
            </a:r>
            <a:r>
              <a:rPr dirty="0" err="1"/>
              <a:t>人與</a:t>
            </a:r>
            <a:r>
              <a:rPr dirty="0"/>
              <a:t> AI </a:t>
            </a:r>
            <a:r>
              <a:rPr dirty="0" err="1"/>
              <a:t>的責任邊界</a:t>
            </a: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rPr dirty="0"/>
              <a:t>• </a:t>
            </a:r>
            <a:r>
              <a:rPr dirty="0" err="1"/>
              <a:t>破除四大常見開發誤會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3228873" y="1645920"/>
            <a:ext cx="2476423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284C7"/>
                </a:solidFill>
                <a:latin typeface="Georgia"/>
              </a:defRPr>
            </a:pPr>
            <a:r>
              <a:t>單元二：需求與 MVP</a:t>
            </a:r>
          </a:p>
          <a:p>
            <a:pPr>
              <a:spcAft>
                <a:spcPts val="800"/>
              </a:spcAft>
              <a:defRPr sz="1200" b="1">
                <a:solidFill>
                  <a:srgbClr val="D97706"/>
                </a:solidFill>
                <a:latin typeface="Verdana"/>
              </a:defRPr>
            </a:pPr>
            <a:r>
              <a:t>0:45 - 1:30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痛點與使用者定位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MVP 範圍裁剪與驗收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任務卡模板實作演練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79616" y="1645920"/>
            <a:ext cx="3087264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284C7"/>
                </a:solidFill>
                <a:latin typeface="Georgia"/>
              </a:defRPr>
            </a:pPr>
            <a:r>
              <a:rPr dirty="0" err="1"/>
              <a:t>單元三：Vibe</a:t>
            </a:r>
            <a:r>
              <a:rPr dirty="0"/>
              <a:t> </a:t>
            </a:r>
            <a:r>
              <a:rPr dirty="0" err="1"/>
              <a:t>實作</a:t>
            </a:r>
            <a:endParaRPr dirty="0"/>
          </a:p>
          <a:p>
            <a:pPr>
              <a:spcAft>
                <a:spcPts val="800"/>
              </a:spcAft>
              <a:defRPr sz="1200" b="1">
                <a:solidFill>
                  <a:srgbClr val="D97706"/>
                </a:solidFill>
                <a:latin typeface="Verdana"/>
              </a:defRPr>
            </a:pPr>
            <a:r>
              <a:rPr dirty="0"/>
              <a:t>1:30 - 2:30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rPr dirty="0"/>
              <a:t>• Google AI Studio 7 </a:t>
            </a:r>
            <a:r>
              <a:rPr dirty="0" err="1"/>
              <a:t>步法</a:t>
            </a: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rPr dirty="0"/>
              <a:t>• Frontend Prompt </a:t>
            </a:r>
            <a:r>
              <a:rPr dirty="0" err="1"/>
              <a:t>精準輸出</a:t>
            </a: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rPr dirty="0"/>
              <a:t>• </a:t>
            </a:r>
            <a:r>
              <a:rPr dirty="0" err="1"/>
              <a:t>同儕交換測試與最小修正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9341200" y="1645920"/>
            <a:ext cx="2476423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284C7"/>
                </a:solidFill>
                <a:latin typeface="Georgia"/>
              </a:defRPr>
            </a:pPr>
            <a:r>
              <a:rPr dirty="0" err="1"/>
              <a:t>單元四：專題</a:t>
            </a:r>
            <a:endParaRPr dirty="0"/>
          </a:p>
          <a:p>
            <a:pPr>
              <a:spcAft>
                <a:spcPts val="800"/>
              </a:spcAft>
              <a:defRPr sz="1200" b="1">
                <a:solidFill>
                  <a:srgbClr val="D97706"/>
                </a:solidFill>
                <a:latin typeface="Verdana"/>
              </a:defRPr>
            </a:pPr>
            <a:r>
              <a:rPr dirty="0"/>
              <a:t>2:30 - 3:00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rPr dirty="0"/>
              <a:t>• </a:t>
            </a:r>
            <a:r>
              <a:rPr dirty="0" err="1"/>
              <a:t>挑選成果發表分組題目</a:t>
            </a: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rPr dirty="0"/>
              <a:t>• </a:t>
            </a:r>
            <a:r>
              <a:rPr dirty="0" err="1"/>
              <a:t>定義第一版</a:t>
            </a:r>
            <a:r>
              <a:rPr dirty="0"/>
              <a:t> MVP </a:t>
            </a:r>
            <a:r>
              <a:rPr dirty="0" err="1"/>
              <a:t>規格</a:t>
            </a: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rPr dirty="0"/>
              <a:t>• </a:t>
            </a:r>
            <a:r>
              <a:rPr dirty="0" err="1"/>
              <a:t>建立初步網站雛型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Verdana"/>
              </a:defRPr>
            </a:pPr>
            <a:r>
              <a:t>上午課程：AI 專題發想及 VIBE CODING 應用開發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Georgia"/>
              </a:defRPr>
            </a:pPr>
            <a:r>
              <a:t>Vibe Coding 核心哲學：人是架構師，AI 是加速器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27167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284C7"/>
                </a:solidFill>
                <a:latin typeface="Georgia"/>
              </a:defRPr>
            </a:pPr>
            <a:r>
              <a:t>AI 負責：高效執行與產出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快速產生 HTML/CSS/JS 初稿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依指令重複修改樣式與版面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提供錯誤原因與修復建議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自動撰寫手動測試清單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645920"/>
            <a:ext cx="5227167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284C7"/>
                </a:solidFill>
                <a:latin typeface="Georgia"/>
              </a:defRPr>
            </a:pPr>
            <a:r>
              <a:t>人類負責：方向、邏輯與責任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定義真實業務問題與優先順序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判斷產出內容的真實性與合理性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掌控資料隱私與資安合規性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進行最終使用者驗收與品質把關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Verdana"/>
              </a:defRPr>
            </a:pPr>
            <a:r>
              <a:t>上午課程：AI 專題發想及 VIBE CODING 應用開發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Georgia"/>
              </a:defRPr>
            </a:pPr>
            <a:r>
              <a:t>破除 Vibe Coding 的 4 個常見誤會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76423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284C7"/>
                </a:solidFill>
                <a:latin typeface="Georgia"/>
              </a:defRPr>
            </a:pPr>
            <a:r>
              <a:t>誤會 1：畫面漂亮 ＝ 功能完成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漂亮 UI 可能只是靜態假資料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必須驗證點擊、表單與互動狀態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82263" y="1645920"/>
            <a:ext cx="2476423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284C7"/>
                </a:solidFill>
                <a:latin typeface="Georgia"/>
              </a:defRPr>
            </a:pPr>
            <a:r>
              <a:t>誤會 2：Prompt 越長越專業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長文章容易讓 AI 遺漏限制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關鍵在結構化：目標、限制、驗收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1645920"/>
            <a:ext cx="2476423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284C7"/>
                </a:solidFill>
                <a:latin typeface="Georgia"/>
              </a:defRPr>
            </a:pPr>
            <a:r>
              <a:t>誤會 3：AI 程式碼一定無誤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AI 會出現套件幻覺與邏輯漏洞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工程師必須進行人工測試驗證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83751" y="1645920"/>
            <a:ext cx="2476423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284C7"/>
                </a:solidFill>
                <a:latin typeface="Georgia"/>
              </a:defRPr>
            </a:pPr>
            <a:r>
              <a:t>誤會 4：一次做完全部最省時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一次要太多功能容易整頁爆掉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正確做法：先做 MVP，分步迭代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Verdana"/>
              </a:defRPr>
            </a:pPr>
            <a:r>
              <a:t>上午課程：AI 專題發想及 VIBE CODING 應用開發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Georgia"/>
              </a:defRPr>
            </a:pPr>
            <a:r>
              <a:rPr dirty="0" err="1"/>
              <a:t>如何把模糊點子拆解成</a:t>
            </a:r>
            <a:r>
              <a:rPr lang="en-TW" dirty="0"/>
              <a:t> </a:t>
            </a:r>
            <a:r>
              <a:rPr lang="en-US" dirty="0"/>
              <a:t>MVP</a:t>
            </a:r>
            <a:r>
              <a:rPr lang="en-TW" dirty="0"/>
              <a:t> </a:t>
            </a:r>
            <a:endParaRPr lang="en-US" dirty="0"/>
          </a:p>
          <a:p>
            <a:pPr>
              <a:defRPr sz="2400" b="1">
                <a:solidFill>
                  <a:srgbClr val="1E293B"/>
                </a:solidFill>
                <a:latin typeface="Georgia"/>
              </a:defRPr>
            </a:pPr>
            <a:r>
              <a:rPr lang="en-TW" sz="2400" b="1" dirty="0">
                <a:solidFill>
                  <a:srgbClr val="1E293B"/>
                </a:solidFill>
                <a:latin typeface="Georgia"/>
              </a:rPr>
              <a:t>MVP（Minimum Viable Product，最小可行性產品）</a:t>
            </a:r>
            <a:r>
              <a:rPr dirty="0"/>
              <a:t>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76423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284C7"/>
                </a:solidFill>
                <a:latin typeface="Georgia"/>
              </a:defRPr>
            </a:pPr>
            <a:r>
              <a:t>1. 目標使用者 (User)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誰會在什麼情境下使用這個網站？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例如：想安排週末活動的台北市民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82263" y="1645920"/>
            <a:ext cx="2476423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284C7"/>
                </a:solidFill>
                <a:latin typeface="Georgia"/>
              </a:defRPr>
            </a:pPr>
            <a:r>
              <a:t>2. 核心痛點 (Pain Point)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目前流程卡在哪裡？要解決什麼問題？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例如：資訊分散、不知如何快速篩選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1645920"/>
            <a:ext cx="2476423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284C7"/>
                </a:solidFill>
                <a:latin typeface="Georgia"/>
              </a:defRPr>
            </a:pPr>
            <a:r>
              <a:t>3. 核心操作 (Core Action)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使用者第一版必須完成的動作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例如：類別篩選、關鍵字搜尋、送出預約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83751" y="1645920"/>
            <a:ext cx="2476423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284C7"/>
                </a:solidFill>
                <a:latin typeface="Georgia"/>
              </a:defRPr>
            </a:pPr>
            <a:r>
              <a:t>4. 驗收標準 (Criteria)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什麼情況下算第一版成功交付？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例如：375px 無橫向捲動、表單防呆有效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Verdana"/>
              </a:defRPr>
            </a:pPr>
            <a:r>
              <a:t>上午課程：AI 專題發想及 VIBE CODING 應用開發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Georgia"/>
              </a:defRPr>
            </a:pPr>
            <a:r>
              <a:t>實務工作必備：開發任務卡 (Task Card) 範本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284C7"/>
                </a:solidFill>
                <a:latin typeface="Georgia"/>
              </a:defRPr>
            </a:pPr>
            <a:r>
              <a:t>任務卡六大核心欄位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【專題目標】：描述網站要完成的核心價值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【使用者操作】：列出主要點擊與輸入流程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【資料欄位】：明確定義欄位名稱與型態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【技術限制】：指定 HTML/CSS/JS 或 React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【驗收條件】：列出可客觀測試的 3-5 項指標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【本次不做】：明確劃定邊界，防止需求膨脹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Verdana"/>
              </a:defRPr>
            </a:pPr>
            <a:r>
              <a:t>上午課程：AI 專題發想及 VIBE CODING 應用開發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Georgia"/>
              </a:defRPr>
            </a:pPr>
            <a:r>
              <a:t>Google AI Studio 開發環境：Build Mode 核心區域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76423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284C7"/>
                </a:solidFill>
                <a:latin typeface="Georgia"/>
              </a:defRPr>
            </a:pPr>
            <a:r>
              <a:t>1. Prompt 對話區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輸入自然語言需求與限制指令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進行多輪對話與微調修正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82263" y="1645920"/>
            <a:ext cx="2476423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284C7"/>
                </a:solidFill>
                <a:latin typeface="Georgia"/>
              </a:defRPr>
            </a:pPr>
            <a:r>
              <a:t>2. Preview 預覽區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即時渲染網站畫面與操作體驗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切換桌機與手機檢視尺寸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1645920"/>
            <a:ext cx="2476423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284C7"/>
                </a:solidFill>
                <a:latin typeface="Georgia"/>
              </a:defRPr>
            </a:pPr>
            <a:r>
              <a:t>3. Code 程式區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查看 AI 生成的多檔案架構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檢視 HTML, CSS, JS 原始碼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83751" y="1645920"/>
            <a:ext cx="2476423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284C7"/>
                </a:solidFill>
                <a:latin typeface="Georgia"/>
              </a:defRPr>
            </a:pPr>
            <a:r>
              <a:t>4. Export 導出區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下載打包 ZIP 檔存於本機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準備同步至 GitHub 倉庫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Verdana"/>
              </a:defRPr>
            </a:pPr>
            <a:r>
              <a:t>上午課程：AI 專題發想及 VIBE CODING 應用開發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Georgia"/>
              </a:defRPr>
            </a:pPr>
            <a:r>
              <a:t>AI 協作開發 7 步工作流：從需求到交付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27167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284C7"/>
                </a:solidFill>
                <a:latin typeface="Georgia"/>
              </a:defRPr>
            </a:pPr>
            <a:r>
              <a:t>Step 1-3：定義與規劃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1. 說明問題與完成標準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2. 請 AI 拆解功能與資料結構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3. 確認技術選擇與專案檔案階層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645920"/>
            <a:ext cx="5227167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284C7"/>
                </a:solidFill>
                <a:latin typeface="Georgia"/>
              </a:defRPr>
            </a:pPr>
            <a:r>
              <a:t>Step 4-7：實作與驗收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4. 一次只做一個可測試功能模組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5. 實際操作並記錄測試與 Error Log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6. 請 AI 進行最小修正（不重寫全頁）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7. 打包存檔與撰寫 README 文件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Verdana"/>
              </a:defRPr>
            </a:pPr>
            <a:r>
              <a:t>上午課程：AI 專題發想及 VIBE CODING 應用開發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Georgia"/>
              </a:defRPr>
            </a:pPr>
            <a:r>
              <a:t>資深前端的高品質 Prompt 六大結構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284C7"/>
                </a:solidFill>
                <a:latin typeface="Georgia"/>
              </a:defRPr>
            </a:pPr>
            <a:r>
              <a:t>Prompt 萬用骨架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1.【角色】：你是一位 Senior Frontend Engineer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2.【背景】：專案名稱與使用者使用情境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3.【任務】：本次要建立或修改的具體 UI 元件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4.【限制】：指定 React/Vite/Bootstrap，禁止硬編碼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5.【輸出】：請先列出修改檔案，再提供程式碼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6.【驗收】：列出 375px 不跑版、表單防呆等條件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Verdana"/>
              </a:defRPr>
            </a:pPr>
            <a:r>
              <a:t>上午課程：AI 專題發想及 VIBE CODING 應用開發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Georgia"/>
              </a:defRPr>
            </a:pPr>
            <a:r>
              <a:t>Prompt 對比：模糊指令 vs 可驗收規格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27167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284C7"/>
                </a:solidFill>
                <a:latin typeface="Georgia"/>
              </a:defRPr>
            </a:pPr>
            <a:r>
              <a:t>❌ 模糊指令（災難來源）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「幫我把網站做漂亮一點，加入搜尋功能。」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結果：AI 隨機重寫整個檔案、寫死寬度、絕對定位爆版、既有功能壞掉。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645920"/>
            <a:ext cx="5227167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284C7"/>
                </a:solidFill>
                <a:latin typeface="Georgia"/>
              </a:defRPr>
            </a:pPr>
            <a:r>
              <a:t>✅ 可驗收規格（精準控制）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「請只修改活動類別篩選，保留現有卡片資料與 Bootstrap 5。選『全部』顯示所有，其他顯示對應類別。請先分析原因再最小修改。」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結果：程式動態符合預期，舊功能完全保留。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Verdana"/>
              </a:defRPr>
            </a:pPr>
            <a:r>
              <a:t>上午課程：AI 專題發想及 VIBE CODING 應用開發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Georgia"/>
              </a:defRPr>
            </a:pPr>
            <a:r>
              <a:t>資安第一原則：前端 Prompt 的紅線禁區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27167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284C7"/>
                </a:solidFill>
                <a:latin typeface="Georgia"/>
              </a:defRPr>
            </a:pPr>
            <a:r>
              <a:t>🚫 絕對不能貼入 Prompt 的內容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API Key / 雲端服務金鑰 (例如 OpenAI Key)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真實使用者個資 (姓名、身分證號、電話、Email)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公司內部未公開資料與資料庫密碼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645920"/>
            <a:ext cx="5227167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284C7"/>
                </a:solidFill>
                <a:latin typeface="Georgia"/>
              </a:defRPr>
            </a:pPr>
            <a:r>
              <a:t>🛡️ 正確替代方案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使用假資料 (Mock Data) 或通用占位符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環境變數 `.env` 放在本機，不提交雲端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在 Prompt 中明確要求：「不可發送資料至伺服器」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Verdana"/>
              </a:defRPr>
            </a:pPr>
            <a:r>
              <a:t>上午課程：AI 專題發想及 VIBE CODING 應用開發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Georgia"/>
              </a:defRPr>
            </a:pPr>
            <a:r>
              <a:t>課堂實作演練 1：打造第一個 MVP 原型（45 分鐘）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27167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284C7"/>
                </a:solidFill>
                <a:latin typeface="Georgia"/>
              </a:defRPr>
            </a:pPr>
            <a:r>
              <a:t>演練題目：台北週末活動推薦網站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1. 建立導覽列、Hero 主視覺、四類活動卡片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2. 實作類別篩選按鈕（全部/音樂/展覽/市集）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3. 實作活動報名表單（含必填欄位驗證）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4. 確保在 375px 手機寬度下無橫向捲動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645920"/>
            <a:ext cx="5227167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284C7"/>
                </a:solidFill>
                <a:latin typeface="Georgia"/>
              </a:defRPr>
            </a:pPr>
            <a:r>
              <a:t>完成自我 CheckList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□ 四類活動卡片完整顯示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□ 篩選功能點擊正確連動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□ 空白送出表單會顯示提示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□ 手機模擬器不出現爆版捲動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Verdana"/>
              </a:defRPr>
            </a:pPr>
            <a:r>
              <a:t>上午課程：AI 專題發想及 VIBE CODING 應用開發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Georgia"/>
              </a:defRPr>
            </a:pPr>
            <a:r>
              <a:t>除錯心法：如何提供「證據」讓 AI 一次修正？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27167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284C7"/>
                </a:solidFill>
                <a:latin typeface="Georgia"/>
              </a:defRPr>
            </a:pPr>
            <a:r>
              <a:t>❌ 錯誤問法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「點了沒反應，幫我修好。」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「畫面怪怪的，怎麼辦？」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645920"/>
            <a:ext cx="5227167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284C7"/>
                </a:solidFill>
                <a:latin typeface="Georgia"/>
              </a:defRPr>
            </a:pPr>
            <a:r>
              <a:t>✅ 提供四大證據的除錯 Prompt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1. 重現步驟：點擊「展覽」按鈕後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2. 預期結果：只顯示展覽卡片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3. 實際結果：所有卡片都消失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4. Console Log / 程式碼段落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👉 要求：請先診斷可能根因，再提供最小修正。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Verdana"/>
              </a:defRPr>
            </a:pPr>
            <a:r>
              <a:t>上午課程：AI 專題發想及 VIBE CODING 應用開發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Georgia"/>
              </a:defRPr>
            </a:pPr>
            <a:r>
              <a:t>同儕交叉測試：換一個人測才算數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27167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284C7"/>
                </a:solidFill>
                <a:latin typeface="Georgia"/>
              </a:defRPr>
            </a:pPr>
            <a:r>
              <a:t>作品開發組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只說明網站目的與驗收條件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不主動提示操作細節與答案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記錄同學操作時遇到的卡關點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645920"/>
            <a:ext cx="5227167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284C7"/>
                </a:solidFill>
                <a:latin typeface="Georgia"/>
              </a:defRPr>
            </a:pPr>
            <a:r>
              <a:t>測試驗收組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對照驗收清單逐項真實點擊操作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測試極端情境（空白送出、爆長文字）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回報具體可觀察到的 Issue 證據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Verdana"/>
              </a:defRPr>
            </a:pPr>
            <a:r>
              <a:t>上午課程：AI 專題發想及 VIBE CODING 應用開發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Georgia"/>
              </a:defRPr>
            </a:pPr>
            <a:r>
              <a:t>成果發表分組專題發想：四題擇一實戰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76423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284C7"/>
                </a:solidFill>
                <a:latin typeface="Georgia"/>
              </a:defRPr>
            </a:pPr>
            <a:r>
              <a:rPr dirty="0" err="1"/>
              <a:t>專題</a:t>
            </a:r>
            <a:r>
              <a:rPr dirty="0"/>
              <a:t> </a:t>
            </a:r>
            <a:r>
              <a:rPr dirty="0" err="1"/>
              <a:t>A：客船智慧查詢與預約網站</a:t>
            </a: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rPr dirty="0"/>
              <a:t>• </a:t>
            </a:r>
            <a:r>
              <a:rPr dirty="0" err="1"/>
              <a:t>航線查詢、船班狀態、票價計算與預約表單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3482263" y="1645920"/>
            <a:ext cx="2476423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284C7"/>
                </a:solidFill>
                <a:latin typeface="Georgia"/>
              </a:defRPr>
            </a:pPr>
            <a:r>
              <a:rPr dirty="0" err="1"/>
              <a:t>專題</a:t>
            </a:r>
            <a:r>
              <a:rPr dirty="0"/>
              <a:t> </a:t>
            </a:r>
            <a:r>
              <a:rPr dirty="0" err="1"/>
              <a:t>B：在地美食地圖與小吃探索平台</a:t>
            </a: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rPr dirty="0"/>
              <a:t>• </a:t>
            </a:r>
            <a:r>
              <a:rPr dirty="0" err="1"/>
              <a:t>區域篩選、店家評分、營業狀態與口袋名單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6233007" y="1645920"/>
            <a:ext cx="2476423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284C7"/>
                </a:solidFill>
                <a:latin typeface="Georgia"/>
              </a:defRPr>
            </a:pPr>
            <a:r>
              <a:t>專題 C：校園與社區活動推薦地圖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日期地點篩選、活動報名、行事曆加入功能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83751" y="1645920"/>
            <a:ext cx="2476423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284C7"/>
                </a:solidFill>
                <a:latin typeface="Georgia"/>
              </a:defRPr>
            </a:pPr>
            <a:r>
              <a:rPr dirty="0" err="1"/>
              <a:t>專題</a:t>
            </a:r>
            <a:r>
              <a:rPr dirty="0"/>
              <a:t> D： AI </a:t>
            </a:r>
            <a:r>
              <a:rPr dirty="0" err="1"/>
              <a:t>智慧履歷與作品集展示</a:t>
            </a: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rPr dirty="0"/>
              <a:t>• </a:t>
            </a:r>
            <a:r>
              <a:rPr dirty="0" err="1"/>
              <a:t>技能標籤、專案作品卡片、聯絡表單防呆</a:t>
            </a: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Verdana"/>
              </a:defRPr>
            </a:pPr>
            <a:r>
              <a:t>上午課程：AI 專題發想及 VIBE CODING 應用開發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Georgia"/>
              </a:defRPr>
            </a:pPr>
            <a:r>
              <a:rPr dirty="0" err="1"/>
              <a:t>分組題型</a:t>
            </a:r>
            <a:r>
              <a:rPr dirty="0"/>
              <a:t> A </a:t>
            </a:r>
            <a:r>
              <a:rPr dirty="0" err="1"/>
              <a:t>規格：客船智慧查詢網站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27167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284C7"/>
                </a:solidFill>
                <a:latin typeface="Georgia"/>
              </a:defRPr>
            </a:pPr>
            <a:r>
              <a:t>核心需求與 MVP 範圍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使用者：規劃離島旅行的遊客（如東港-小琉球、富岡-綠島）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核心功能：起終點下拉選擇、出發日期、船班卡片列表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關鍵細節：即時開航狀態（正常/開航/停航）、票價試算表單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645920"/>
            <a:ext cx="5227167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284C7"/>
                </a:solidFill>
                <a:latin typeface="Georgia"/>
              </a:defRPr>
            </a:pPr>
            <a:r>
              <a:t>驗收條件 (Acceptance Criteria)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1. 搜尋表單可選擇航線並更新列表中船班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2. 手機 375px 寬度卡片自動改為單欄展示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3. 送出預約票券時有必填防呆與確認彈窗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Verdana"/>
              </a:defRPr>
            </a:pPr>
            <a:r>
              <a:t>上午課程：AI 專題發想及 VIBE CODING 應用開發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Georgia"/>
              </a:defRPr>
            </a:pPr>
            <a:r>
              <a:t>分組題型 B 規格：在地美食地圖與小吃探索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27167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284C7"/>
                </a:solidFill>
                <a:latin typeface="Georgia"/>
              </a:defRPr>
            </a:pPr>
            <a:r>
              <a:t>核心需求與 MVP 範圍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使用者：尋找在地美食的美食家與觀光客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核心功能：夜市/區域標籤篩選、營業中狀態、星級評分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關鍵細節：店家詳細資訊 Modal彈窗、收藏口袋名單 (Local)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645920"/>
            <a:ext cx="5227167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284C7"/>
                </a:solidFill>
                <a:latin typeface="Georgia"/>
              </a:defRPr>
            </a:pPr>
            <a:r>
              <a:t>驗收條件 (Acceptance Criteria)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1. 點擊「營業中」標籤可即時過濾店家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2. 店家卡片具備 RWD 響應式網格 (Flexbox/Grid)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3. 點擊收藏按鈕圖示狀態切換並保留選擇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Verdana"/>
              </a:defRPr>
            </a:pPr>
            <a:r>
              <a:t>上午課程：AI 專題發想及 VIBE CODING 應用開發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Georgia"/>
              </a:defRPr>
            </a:pPr>
            <a:r>
              <a:t>分組題型 C 規格：校園與社區活動推薦地圖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27167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284C7"/>
                </a:solidFill>
                <a:latin typeface="Georgia"/>
              </a:defRPr>
            </a:pPr>
            <a:r>
              <a:t>核心需求與 MVP 範圍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使用者：想參與課外活動或社區講座的學生與居民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核心功能：免費/付費分類、活動日期月曆視圖、報名人數進度條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關鍵細節：報名表單含人數試算與同意條款驗證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645920"/>
            <a:ext cx="5227167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284C7"/>
                </a:solidFill>
                <a:latin typeface="Georgia"/>
              </a:defRPr>
            </a:pPr>
            <a:r>
              <a:t>驗收條件 (Acceptance Criteria)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1. 活動卡片顯示報名剩餘名額與進度條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2. 表單未勾選同意條款時無法送出並提示錯誤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3. 375px 手機版無橫向捲動，按鈕符合 Touch Target 44px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Verdana"/>
              </a:defRPr>
            </a:pPr>
            <a:r>
              <a:t>上午課程：AI 專題發想及 VIBE CODING 應用開發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Georgia"/>
              </a:defRPr>
            </a:pPr>
            <a:r>
              <a:rPr dirty="0" err="1"/>
              <a:t>分組題型</a:t>
            </a:r>
            <a:r>
              <a:rPr dirty="0"/>
              <a:t> D </a:t>
            </a:r>
            <a:r>
              <a:rPr dirty="0" err="1"/>
              <a:t>規格：AI</a:t>
            </a:r>
            <a:r>
              <a:rPr dirty="0"/>
              <a:t> </a:t>
            </a:r>
            <a:r>
              <a:rPr dirty="0" err="1"/>
              <a:t>智慧履歷作品集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27167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284C7"/>
                </a:solidFill>
                <a:latin typeface="Georgia"/>
              </a:defRPr>
            </a:pPr>
            <a:r>
              <a:t>核心需求與 MVP 範圍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使用者：準備求職或展示個人專案的前端/設計工程師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核心功能：個人簡介 Hero、技能分類標籤、專案作品集 Lightbox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關鍵細節：互動式經歷 Timeline、聯絡信箱 Form 驗證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645920"/>
            <a:ext cx="5227167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284C7"/>
                </a:solidFill>
                <a:latin typeface="Georgia"/>
              </a:defRPr>
            </a:pPr>
            <a:r>
              <a:t>驗收條件 (Acceptance Criteria)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1. 導覽列具備 Smooth Scroll 錨點滾動效果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2. 作品集卡片滑鼠 Hover 有彈性動畫與連結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3. 聯絡表單有完整的 Email 格式正則驗證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Verdana"/>
              </a:defRPr>
            </a:pPr>
            <a:r>
              <a:t>上午課程：AI 專題發想及 VIBE CODING 應用開發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Georgia"/>
              </a:defRPr>
            </a:pPr>
            <a:r>
              <a:rPr dirty="0" err="1"/>
              <a:t>分組實務發想</a:t>
            </a:r>
            <a:r>
              <a:rPr dirty="0"/>
              <a:t> 4 </a:t>
            </a:r>
            <a:r>
              <a:rPr dirty="0" err="1"/>
              <a:t>步驟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76423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284C7"/>
                </a:solidFill>
                <a:latin typeface="Georgia"/>
              </a:defRPr>
            </a:pPr>
            <a:r>
              <a:t>Step 1：選定題目與角色分工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選定專題 A/B/C/D 之一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分配 PM (需求)、Frontend (UI)、QA (測試)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82263" y="1645920"/>
            <a:ext cx="2476423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284C7"/>
                </a:solidFill>
                <a:latin typeface="Georgia"/>
              </a:defRPr>
            </a:pPr>
            <a:r>
              <a:t>Step 2：撰寫組內任務卡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填寫使用者、核心痛點、3 項 MVP 功能與驗收條件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1645920"/>
            <a:ext cx="2476423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284C7"/>
                </a:solidFill>
                <a:latin typeface="Georgia"/>
              </a:defRPr>
            </a:pPr>
            <a:r>
              <a:t>Step 3：使用 AI Studio 產出初版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貼入結構化 Prompt，生成第一版 HTML/CSS/JS/React 程式碼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83751" y="1645920"/>
            <a:ext cx="2476423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284C7"/>
                </a:solidFill>
                <a:latin typeface="Georgia"/>
              </a:defRPr>
            </a:pPr>
            <a:r>
              <a:t>Step 4：打包 ZIP 備用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匯出第一版程式碼，準備下午進行 Git/GitHub 雲端部署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Verdana"/>
              </a:defRPr>
            </a:pPr>
            <a:r>
              <a:t>上午課程：AI 專題發想及 VIBE CODING 應用開發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Georgia"/>
              </a:defRPr>
            </a:pPr>
            <a:r>
              <a:t>上午課程總結：成為能控制 AI 的現代工程師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284C7"/>
                </a:solidFill>
                <a:latin typeface="Georgia"/>
              </a:defRPr>
            </a:pPr>
            <a:r>
              <a:t>帶走四大關鍵能力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1.【做小】：先定義 MVP，不贪多一口吃成胖子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2.【精準】：用 6 段式 Prompt 規範限制與驗收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3.【修小】：一次只改一件事，提供重現證據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4.【驗收】：換人測試，對照真實條件驗收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Verdana"/>
              </a:defRPr>
            </a:pPr>
            <a:r>
              <a:t>上午課程：AI 專題發想及 VIBE CODING 應用開發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Georgia"/>
              </a:defRPr>
            </a:pPr>
            <a:r>
              <a:t>下午預告：將本機作品推向全世界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284C7"/>
                </a:solidFill>
                <a:latin typeface="Georgia"/>
              </a:defRPr>
            </a:pPr>
            <a:r>
              <a:t>下午三節課主題：Git 協作及成果發表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學會 Git 版本控制（告別檔案名稱加『最終版_絕對不改』）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將專案推送到 GitHub 雲端託管倉庫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使用 Vercel 一鍵完成雲端部署取得公開網址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完成小組成果發表（展示網址、AI 協作心得與除錯經驗）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1462</Words>
  <Application>Microsoft Macintosh PowerPoint</Application>
  <PresentationFormat>Widescreen</PresentationFormat>
  <Paragraphs>256</Paragraphs>
  <Slides>30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Leon Chang</cp:lastModifiedBy>
  <cp:revision>7</cp:revision>
  <dcterms:created xsi:type="dcterms:W3CDTF">2013-01-27T09:14:16Z</dcterms:created>
  <dcterms:modified xsi:type="dcterms:W3CDTF">2026-09-12T01:07:44Z</dcterms:modified>
  <cp:category/>
</cp:coreProperties>
</file>