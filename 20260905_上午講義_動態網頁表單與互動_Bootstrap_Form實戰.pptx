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59"/>
  </p:normalViewPr>
  <p:slideViewPr>
    <p:cSldViewPr snapToGrid="0" snapToObjects="1">
      <p:cViewPr varScale="1">
        <p:scale>
          <a:sx n="142" d="100"/>
          <a:sy n="142" d="100"/>
        </p:scale>
        <p:origin x="2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 b="1">
                <a:solidFill>
                  <a:srgbClr val="2563EB"/>
                </a:solidFill>
              </a:defRPr>
            </a:pPr>
            <a:r>
              <a:t>產業人才投資計畫｜前端網頁與實務開發</a:t>
            </a:r>
          </a:p>
          <a:p>
            <a:pPr algn="ctr">
              <a:spcAft>
                <a:spcPts val="1400"/>
              </a:spcAft>
              <a:defRPr sz="3600" b="1">
                <a:solidFill>
                  <a:srgbClr val="0F172A"/>
                </a:solidFill>
              </a:defRPr>
            </a:pPr>
            <a:r>
              <a:t>動態網頁表單與互動</a:t>
            </a:r>
          </a:p>
          <a:p>
            <a:pPr algn="ctr">
              <a:spcAft>
                <a:spcPts val="3000"/>
              </a:spcAft>
              <a:defRPr sz="2000">
                <a:solidFill>
                  <a:srgbClr val="475569"/>
                </a:solidFill>
              </a:defRPr>
            </a:pPr>
            <a:r>
              <a:t>Bootstrap 5 Form 核心控制項、驗證體系與 JavaScript 動態互動實戰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授課日期：2026/08/29 (星期六) 上午 09:00 - 12:00｜講師：張玄橋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【課程導讀】 P.02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今日學習目標：專注 Bootstrap Form 深度實戰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跳過通用基礎，直攻表單實務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已知前置：同學已具備 Bootstrap 容器、按鈕與基本網格觀念。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核心突破 1：精通 Bootstrap 5 表單全家桶（Controls, Select, Checks, Switches, Input-Group）。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核心突破 2：手刻 Native + Bootstrap 雙軌驗證回饋（Feedback）。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核心突破 3：整合 JavaScript 實作動態表單與防連點保護。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專題產出：專業活動報名與結帳表單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模組 1：高質感個人資料與偏好設定元件組裝。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模組 2：即時紅綠燈即時防呆（is-valid / is-invalid）。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模組 3：密碼眼睛切換與字數即時計算器。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模組 4：動態增刪同行成員與防連點送出按鈕。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【行程規劃】 P.03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上午 3 小時 Form 核心技能地圖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模組一與模組二 (09:00 - 10:30)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09:00 - 09:45 模組一：Bootstrap Form 專業控制項進階組裝。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聚焦 .form-control 尺寸、浮動標籤（Floating labels）、檔案上傳。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09:45 - 10:30 模組二：Input-Group 前綴後綴與複合控制元件。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按鈕群組嵌合、下拉選單結合、貨幣與帳號輸入前綴。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休息與模組三、四 (10:30 - 12:00)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10:30 - 10:40 課間休息 10 分鐘。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10:40 - 11:20 模組三：Bootstrap 驗證體系與自訂校驗提示。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was-validated 原理、即時輸入判斷、Tooltip 錯誤樣式。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11:20 - 12:00 模組四：動態表單互動（增刪欄位、密碼切換、防連點）。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【表單核心】 P.04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Bootstrap 表單控制項深度剖析：.form-control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.form-control 的底層美化細節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重設原生外觀：清除瀏覽器預設的灰色凹陷邊框。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標準留白：預設提供一致的 padding 與 line-height。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焦點光暈：Focus 時自動呈現科技藍柔和外光暈（Box-shadow）。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禁用狀態：disabled 自動套用淺灰背景與禁止游標。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尺寸與輔助屬性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尺寸控制：.form-control-lg（大字大框）、.form-control-sm（緊湊排版）。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純文字唯讀模式：.form-control-plaintext（去除框線，僅保留文字）。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顏色挑選器：&lt;input type="color" class="form-control form-control-color"&gt;。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【範例解說】 P.05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【實例解說】浮動標籤（Floating Labels）現代體驗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Google / iOS 風格浮動標籤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視覺亮點：文字標籤一開始在框內，點擊或輸入時自動縮小浮動到左上方！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結構核心：外層使用 .form-floating 包覆。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必備規則：&lt;input&gt; 必須放在 &lt;label&gt; 前面，且必須有 placeholder 屬性！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HTML 關鍵結構範例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&lt;div class="form-floating mb-3"&gt;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&lt;input type="email" class="form-control" id="fEmail" placeholder="name@example.com"&gt;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&lt;label for="fEmail"&gt;電子信箱地址&lt;/label&gt;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大幅節省畫面縱向空間，行動端體驗極佳！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P.06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【操作步驟】實作浮動標籤個人基本資料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1：建立一個卡片表單外框。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2：使用 .form-floating 包覆姓名與電話輸入框。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3：為 input 設定 placeholder="任意文字"（必要條件）。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4：用瀏覽器預覽，點擊輸入框觀察 label 向上縮小浮動的流暢動畫。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常見踩坑提醒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若忘記寫 placeholder 屬性，Bootstrap CSS 會無法藉由 :placeholder-shown 偵測輸入狀態，浮動動畫會失效！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【表單控制項】 P.07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單選、核取與現代 Switch 開關深度應用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單選與核取標準架構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.form-check：基本容器，提供標準間距。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.form-check-input：圓點（Radio）或打勾方塊（Checkbox）。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.form-check-label：標籤，關聯 for 屬性以支援點擊文字選取。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.form-check-inline：讓多個選項橫向排列。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切換開關（.form-switch）實戰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在 .form-check 加上 .form-switch，原生勾選方塊立即變身為滑動鈕！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非常適合用在：隱私條款同意、訂閱電子報、開啟深色模式。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程式碼完全不需要額外的 JS 外掛支援。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【進階控制項】 P.08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下拉選單（.form-select）與檔案上傳元件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.form-select 質感下拉選單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取代傳統醜陋箭頭：內建 SVG 向量向下箭頭圖示。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支援尺寸：.form-select-lg 與 .form-select-sm。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多選模式：加上 multiple 與 size 屬性，即刻變身為清單選擇器。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檔案上傳按鈕美化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只需給 &lt;input type="file"&gt; 加上 class="form-control"！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自動美化「瀏覽檔案」按鈕與檔名顯示區域，風格與整站完全一致。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【組合元件】 P.09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Input-Group 核心機制：前綴、後綴與單位縫合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為什麼現代表單離不開 Input-Group？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在輸入框左右兩端無縫拼接圖標、單位或輔助文字。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明確界定輸入格式，有效降低使用者的疑惑。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結構：外層容器 .input-group，文字區塊 .input-group-text。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經典組合情境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金額加綴：[NT$] [ 輸入金額 ] [ .00 元 ]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社群網址：[ https://github.com/ ] [ 輸入個人帳號 ]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搜尋輔助：[ 🔍 圖標 ] [ 請輸入關鍵字...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【範例解說】 P.10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【實例解說】Input-Group 嵌合按鈕與下拉選單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輸入框與按鈕一體化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&lt;div class="input-group mb-3"&gt;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&lt;input type="text" class="form-control" placeholder="折扣代碼"&gt;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&lt;button class="btn btn-outline-primary" type="button"&gt;套用折扣&lt;/button&gt;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輸入框與按鈕會自動消除重疊邊框並合併圓角！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輸入框與下拉選單嵌合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左側放置電話國碼下拉選單（+886 / +852 / +1），右側放置手機號碼輸入框。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外觀渾然一體，排版完全不會上下錯位。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P.11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【操作步驟】打造個人社群與折扣碼輸入群組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1：建立折扣碼輸入群組，後綴放「驗證折扣」按鈕。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2：建立聯絡電話群組，前綴放國碼下拉選單（+886 台灣）。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3：在輸入框加上 .form-control，按鈕加上 .btn-secondary。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4：縮放螢幕確認群組在手機與桌機上均能自適應保持整齊。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操作成果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呈現出媲美專業電商結帳頁面的精密表單元件！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【驗證架構】 P.12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表單驗證體系：Native vs. Bootstrap 接管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瀏覽器原生驗證的缺陷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原生 HTML5 屬性（required, pattern）的提示泡泡極難看。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各家瀏覽器（Chrome, Safari, Firefox）提示外觀不一致且無法改文字色調。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點擊送出時畫面跳轉體驗破碎。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Bootstrap 驗證接管原則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在 &lt;form&gt; 加上 novalidate 屬性，徹底停用原生醜泡泡。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使用 JavaScript 的 checkValidity() 掌控時機。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藉由 Class 控制，交由 Bootstrap 精美的紅綠邊框與回饋文字呈現！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【驗證樣式】 P.13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紅綠燈狀態解析：is-valid 與 is-invalid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四大核心驗證 Class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.is-valid：綠色邊框 + 綠勾圖示（合規通過）。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.is-invalid：紅色邊框 + 紅色驚嘆號圖示（格式錯誤）。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.valid-feedback：綠色提示文字，例如「帳號可使用！」。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.invalid-feedback：紅色錯誤指示，例如「請輸入至少 8 碼字元」。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CSS 連動與 Tooltip 變體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自動顯示機制：當 input 掛上 .is-invalid，其後方的 .invalid-feedback 自動解除隱藏（display: block）。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浮動氣泡風格：改用 .invalid-tooltip，錯誤提示立即變身為半透明浮動氣泡！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【範例解說】 P.14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【實例解說】標準欄位驗證與錯誤訊息配置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HTML 結構標準配對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&lt;div class="mb-3"&gt;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&lt;label for="regEmail" class="form-label"&gt;電子郵件&lt;/label&gt;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&lt;input type="email" class="form-control" id="regEmail" required&gt;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&lt;div class="valid-feedback"&gt;信箱格式正確！&lt;/div&gt;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&lt;div class="invalid-feedback"&gt;請填寫包含 @ 的有效信箱。&lt;/div&gt;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&lt;/div&gt;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狀態反饋解析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在未驗證時，兩個 feedback 均為隱藏狀態。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一旦掛上驗證 class，正確與錯誤文字各司其職，自動對應顯示！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【整表驗證】 P.15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整表批次驗證神器：.was-validated 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一秒點亮全表紅綠燈的秘密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不用手動為 20 個欄位逐一寫 classList.add('is-invalid')！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只要在 &lt;form&gt; 外層掛上 .was-validated 類別：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凡是符合 required/pattern 的欄位自動變綠框！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凡是空白或格式錯誤的欄位自動變紅框並展開錯誤文字！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標準 JS 攔截五行公式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form.addEventListener('submit', (event) =&gt;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if (!form.checkValidity())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event.preventDefault(); // 阻止換頁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event.stopPropagation();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}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form.classList.add('was-validated');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P.16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【操作步驟】實測 was-validated 整表送出防呆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1：建立包含姓名（必填）、手機（正規式 09 開頭）的表單。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2：在 &lt;form&gt; 加上 novalidate。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3：貼上 Page 15 的五行 JS 監聽公式。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4：刻意留空直接點擊送出按鈕！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震撼視覺體驗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頁面完全沒有跳轉刷新，所有漏填項目瞬間整齊亮紅，精準提示使用者哪裡需要修正！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【即時驗證】 P.17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進階技能：單一欄位即時輸入校驗（Live Validation）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為什麼需要即時輸入校驗？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整表驗證只有在點「送出」時才觸發，反饋稍顯延遲。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即時驗證：使用者正在打字（input 事件）或游標離開（blur 事件）時立即反饋！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JavaScript 即時監聽實作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input.addEventListener('input', () =&gt;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if (input.value.trim().length &gt;= 3)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input.classList.remove('is-invalid');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input.classList.add('is-valid');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} else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input.classList.remove('is-valid');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input.classList.add('is-invalid');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}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P.18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【操作步驟】實作密碼強度與即時驗證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1：選取密碼輸入框，監聽 input 事件。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2：判斷 value.length 是否大於等於 8 碼。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3：及時切換 is-valid 與 is-invalid class。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4：在下方同步動態更新 invalid-feedback 的提示文字。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使用者體驗（UX）提升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學員打到第 8 個字元時，紅框瞬間跳成綠框，給予使用者極佳的正向操作回饋！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【動態表單】 P.19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動態表單互動一：密碼眼睛（顯示／遮罩）切換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商業應用背景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現代所有高水準網站（Netflix, Shopee）必備功能。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避免使用者打錯密碼卻渾然不知。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核心實現邏輯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利用 Input-Group 將 &lt;input type="password"&gt; 與切換按鈕併排。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點擊按鈕時檢查：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若當前為 password -&gt; 改為 text，按鈕文字變「隱藏」。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若當前為 text -&gt; 改回 password，按鈕文字變「顯示」。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P.20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【操作步驟】動手裝配密碼切換元件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rPr dirty="0" err="1"/>
              <a:t>實作引導步驟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步驟</a:t>
            </a:r>
            <a:r>
              <a:rPr sz="1600" dirty="0"/>
              <a:t> 1：建立 input-group </a:t>
            </a:r>
            <a:r>
              <a:rPr sz="1600" dirty="0" err="1"/>
              <a:t>包覆密碼框與按鈕</a:t>
            </a:r>
            <a:r>
              <a:rPr sz="1600"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步驟</a:t>
            </a:r>
            <a:r>
              <a:rPr sz="1600" dirty="0"/>
              <a:t> 2：撰寫點擊監聽邏輯（切換 type </a:t>
            </a:r>
            <a:r>
              <a:rPr sz="1600" dirty="0" err="1"/>
              <a:t>屬性</a:t>
            </a:r>
            <a:r>
              <a:rPr sz="1600" dirty="0"/>
              <a:t>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步驟</a:t>
            </a:r>
            <a:r>
              <a:rPr sz="1600" dirty="0"/>
              <a:t> 3：輸入文字並點擊測試，確認明文與小黑點即刻切換。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sz="1600" dirty="0"/>
              <a:t>•  </a:t>
            </a:r>
            <a:r>
              <a:rPr sz="1600" dirty="0" err="1"/>
              <a:t>步驟</a:t>
            </a:r>
            <a:r>
              <a:rPr sz="1600" dirty="0"/>
              <a:t> 4：進階挑戰：嘗試將文字按鈕替換為 Bootstrap Icons </a:t>
            </a:r>
            <a:r>
              <a:rPr sz="1600" dirty="0" err="1"/>
              <a:t>眼睛圖示</a:t>
            </a:r>
            <a:r>
              <a:rPr sz="1600" dirty="0"/>
              <a:t>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成果檢視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僅需 10 行乾淨的 JavaScript 即可完成業界標準的登入交互！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【動態表單】 P.21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動態表單互動二：文字區域（Textarea）字數即時計算器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商業應用情境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備註事項、報名動機或意見回饋通常有「最多 200 字」的限制。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若無即時字數提示，使用者打到最後送出才被截斷會非常挫折。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結構與計算邏輯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Textarea 下方放置輔助文字：&lt;small class="text-muted"&gt;已輸入 &lt;span id="charCount"&gt;0&lt;/span&gt;/200 字&lt;/small&gt;。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監聽 textarea 的 input 事件：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countSpan.textContent = textarea.value.length;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若超過 200 字，動態為計數器加上 text-danger 紅字警示！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P.22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【操作步驟】實作意見回饋即時字數計數器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rPr dirty="0" err="1"/>
              <a:t>實作引導步驟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1：在表單卡片底部放置 &lt;</a:t>
            </a:r>
            <a:r>
              <a:rPr dirty="0" err="1"/>
              <a:t>textarea</a:t>
            </a:r>
            <a:r>
              <a:rPr dirty="0"/>
              <a:t> class="form-control" </a:t>
            </a:r>
            <a:r>
              <a:rPr dirty="0" err="1"/>
              <a:t>maxlength</a:t>
            </a:r>
            <a:r>
              <a:rPr dirty="0"/>
              <a:t>="200"&gt;。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2：在下方右側建立字數統計文字標籤。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3：綁定 input </a:t>
            </a:r>
            <a:r>
              <a:rPr dirty="0" err="1"/>
              <a:t>事件，動態更新</a:t>
            </a:r>
            <a:r>
              <a:rPr dirty="0"/>
              <a:t> span </a:t>
            </a:r>
            <a:r>
              <a:rPr dirty="0" err="1"/>
              <a:t>數值</a:t>
            </a:r>
            <a:r>
              <a:rPr dirty="0"/>
              <a:t>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•  </a:t>
            </a:r>
            <a:r>
              <a:rPr dirty="0" err="1"/>
              <a:t>步驟</a:t>
            </a:r>
            <a:r>
              <a:rPr dirty="0"/>
              <a:t> 4：實際輸入打字，觀察數字隨打字即時遞增跳動。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操作成果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打造出具備細膩微互動（Micro-interaction）的專業表單！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【動態表單】 P.23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動態表單互動三：動態新增同行夥伴（DOM Append）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動態增減項目的核心思維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不能在 HTML 事先寫死 5 個隱藏欄位！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正確做法：點擊「+ 新增一位」時，由 JS 動態建立一整列新的輸入元件並插入容器中。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DOM 節點生成三部曲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const row = document.createElement('div');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row.className = 'input-group mb-2';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row.innerHTML = `&lt;input type="text" class="form-control" placeholder="同行姓名" required&gt;&lt;button class="btn btn-outline-danger" type="button" onclick="this.parentElement.remove()"&gt;刪除&lt;/button&gt;`;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container.appendChild(row);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P.24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【操作步驟】動手體驗動態增刪節點的快感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1：在表單中放置綠色按鈕「+ 新增同行成員」與空容器 #memberList。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2：連續點擊按鈕 3 次，觀察畫面上整齊產出 3 行帶有刪除按鈕的輸入框。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3：點擊第 2 行右側的紅色「刪除」按鈕。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4：確認僅有該行被精準刪除，其餘兩行保持完好！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核心原理回顧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this.parentElement.remove()：this 是按鈕，parentElement 是整個 input-group，一鍵自我了斷！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【防禦設計】 P.25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防禦性設計：為什麼按鈕必須防重複點擊？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電商與表單開發的最大痛點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連點災難：網路稍慢時，使用者焦慮地快速連按 3 次。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嚴重後果：後端資料庫產生 3 筆重複報名、信用卡被扣了 3 次款項！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前端責任：在滑鼠按下第一次的千分之一秒內，立刻把按鈕 Disable 鎖死！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Bootstrap Spinner 視覺安撫技術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單純反灰按鈕會讓使用者誤以為當機。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最佳實踐：將按鈕文字動態替換為 Bootstrap Spinner 旋轉動畫 +「處理中...」，大幅降低跳出率與焦慮！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【範例解說】 P.26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【實例解說】按鈕防連點與狀態切換實作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防連點 JavaScript 邏輯實作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btn.addEventListener('click', () =&gt;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// 1. 立即禁用按鈕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btn.disabled = true;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// 2. 注入 Spinner 旋轉圖示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btn.innerHTML = `&lt;span class="spinner-border spinner-border-sm me-2"&gt;&lt;/span&gt;資料送出中...`;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// 3. 模擬非同步請求 2 秒後完成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setTimeout(() =&gt; {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alert('報名成功！');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btn.disabled = false;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  btn.innerHTML = '確認報名送出';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  }, 2000);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});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核心優勢分析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代碼結構精簡，執行效率極高。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在使用者滑鼠點下的第一時間阻斷後續請求。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搭配 Spinner 動畫，提供完美的視覺心理安撫。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【實作步驟】 P.27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【操作步驟】實測按鈕連點防護機制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實作引導步驟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1：將防連點程式碼裝配到表單的確認送出按鈕。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2：在網頁上用力快速連續猛點按鈕。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3：觀察按鈕在第一次點擊後瞬間變灰（Disabled），游標變成禁止符號，旋轉圈圈順暢旋轉。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步驟 4：兩秒後順利收到成功通知，按鈕復原。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專業度驗收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學會此技巧，能為任何商業系統的前端介面提供堅固的防護罩！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【工作坊實戰】 P.28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課堂實作工作坊：整合型研習營報名卡片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全功能驗收檢查表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1. 浮動標籤（Floating Label）：姓名與信箱具備向上浮動動畫。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2. Input-Group：折扣代碼嵌合驗證按鈕、手機號碼前綴國碼。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3. 驗證體系：整合 was-validated 整表防呆與紅綠燈狀態。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4. 密碼切換：密碼眼睛「顯示／隱藏」切換流暢。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5. 微互動：備註 Textarea 實時字數統計（0/200）。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6. 動態加選：可動態增加同行夥伴，且可個別刪除。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7. 防重複點擊：送出時具備 Spinner 旋轉載入與 Disabled 鎖定。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學員實作時間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每位學員動手獨立或雙人組隊組裝，講師巡迴個別 Debug 指導！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【疑難排除】 P.29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初學者 Form 開發常見踩坑與除錯技巧（FAQ）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常見問題排查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Q1：浮動標籤（Floating label）完全沒反應？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100% 是因為 input 漏寫了 placeholder 屬性，或 input 放在 label 後面！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Q2：點了送出按鈕，畫面依然重新整理跳頁？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檢查 submit 監聽器內有沒有寫 event.preventDefault()！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常見問題排查 (續)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Q3：動態新增的刪除按鈕沒反應？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檢查 onclick 屬性內的 this.parentElement 是否正確對應到外層 div！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Q4：按鈕在送出後永遠卡在 Spinner 轉不停？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• 檢查非同步完成後是否有寫 btn.disabled = false 與還原 innerHTML。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【單元總結】 P.30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上午 Form 核心技能總結與下午銜接預告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上午表單技能收斂總結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精通 Bootstrap Form 全面元件：.form-control, .form-floating, .form-select, .form-switch, .input-group。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掌握 was-validated 與 is-valid / is-invalid 雙軌驗證反饋機制。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熟練密碼眼睛、字數計算器、動態增減列與防連點保護。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1663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下午課程精彩銜接預告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下午 13:00：Git 分支與版本控制（整合 GitHub 團隊協作）！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</a:defRPr>
            </a:pPr>
            <a:r>
              <a:t>•  我們將把上午這份功能強大、互動豐富的表單專案，完整推上 GitHub，開啟團隊平行開發與 PR 合併實戰！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2320</Words>
  <Application>Microsoft Macintosh PowerPoint</Application>
  <PresentationFormat>Widescreen</PresentationFormat>
  <Paragraphs>317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2</cp:revision>
  <dcterms:created xsi:type="dcterms:W3CDTF">2013-01-27T09:14:16Z</dcterms:created>
  <dcterms:modified xsi:type="dcterms:W3CDTF">2026-09-05T04:51:43Z</dcterms:modified>
  <cp:category/>
</cp:coreProperties>
</file>