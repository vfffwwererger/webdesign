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8" r:id="rId9"/>
    <p:sldId id="263" r:id="rId10"/>
    <p:sldId id="264" r:id="rId11"/>
    <p:sldId id="265" r:id="rId12"/>
    <p:sldId id="287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9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7"/>
    <p:restoredTop sz="94659"/>
  </p:normalViewPr>
  <p:slideViewPr>
    <p:cSldViewPr snapToGrid="0" snapToObjects="1">
      <p:cViewPr>
        <p:scale>
          <a:sx n="143" d="100"/>
          <a:sy n="143" d="100"/>
        </p:scale>
        <p:origin x="11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40EBAC-C43F-4561-AE31-04BCD368230F}" type="datetimeFigureOut">
              <a:rPr lang="zh-TW" altLang="en-US" smtClean="0"/>
              <a:t>2026/9/5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1D7A3-8C0E-40CD-8508-15FAACE364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05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1D7A3-8C0E-40CD-8508-15FAACE364D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936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blimemerge.com/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ebdesign-liard.vercel.app/" TargetMode="External"/><Relationship Id="rId2" Type="http://schemas.openxmlformats.org/officeDocument/2006/relationships/hyperlink" Target="https://github.com/jc670717/webdesign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4144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800" b="1">
                <a:solidFill>
                  <a:srgbClr val="0284C7"/>
                </a:solidFill>
              </a:defRPr>
            </a:pPr>
            <a:r>
              <a:rPr sz="4000" dirty="0" err="1"/>
              <a:t>產業人才投資計畫｜前端網頁與實務開發</a:t>
            </a:r>
            <a:endParaRPr sz="4000" dirty="0"/>
          </a:p>
          <a:p>
            <a:pPr algn="ctr">
              <a:spcAft>
                <a:spcPts val="1400"/>
              </a:spcAft>
              <a:defRPr sz="3600" b="1">
                <a:solidFill>
                  <a:srgbClr val="0F172A"/>
                </a:solidFill>
              </a:defRPr>
            </a:pPr>
            <a:r>
              <a:rPr sz="6600" dirty="0"/>
              <a:t>Git </a:t>
            </a:r>
            <a:r>
              <a:rPr sz="6600" dirty="0" err="1"/>
              <a:t>分支與版本控制</a:t>
            </a:r>
            <a:endParaRPr sz="6600" dirty="0"/>
          </a:p>
          <a:p>
            <a:pPr algn="ctr">
              <a:spcAft>
                <a:spcPts val="3000"/>
              </a:spcAft>
              <a:defRPr sz="2000">
                <a:solidFill>
                  <a:srgbClr val="475569"/>
                </a:solidFill>
              </a:defRPr>
            </a:pPr>
            <a:r>
              <a:rPr sz="4400" dirty="0" err="1"/>
              <a:t>整合</a:t>
            </a:r>
            <a:r>
              <a:rPr sz="4400" dirty="0"/>
              <a:t> GitHub </a:t>
            </a:r>
            <a:r>
              <a:rPr sz="4400" dirty="0" err="1"/>
              <a:t>雲端協作、分支管理、Pull</a:t>
            </a:r>
            <a:r>
              <a:rPr sz="4400" dirty="0"/>
              <a:t> Request </a:t>
            </a:r>
            <a:r>
              <a:rPr sz="4400" dirty="0" err="1"/>
              <a:t>與衝突排解</a:t>
            </a:r>
            <a:endParaRPr sz="4400" dirty="0"/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rPr dirty="0"/>
              <a:t>授課日期：2026/08/29 (</a:t>
            </a:r>
            <a:r>
              <a:rPr dirty="0" err="1"/>
              <a:t>星期六</a:t>
            </a:r>
            <a:r>
              <a:rPr dirty="0"/>
              <a:t>)｜</a:t>
            </a:r>
            <a:r>
              <a:rPr dirty="0" err="1"/>
              <a:t>講師：張玄橋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【單元導讀】 P.02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下午學習目標與成果預期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09226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核心掌握能力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理解</a:t>
            </a:r>
            <a:r>
              <a:rPr dirty="0"/>
              <a:t> Git </a:t>
            </a:r>
            <a:r>
              <a:rPr dirty="0" err="1"/>
              <a:t>核心邏輯：工作區、暫存區與儲存庫三層轉換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熟練本地版控核心指令：status、add、commit、log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GitHub </a:t>
            </a:r>
            <a:r>
              <a:rPr dirty="0" err="1"/>
              <a:t>雲端整合：將上午專案推上個人</a:t>
            </a:r>
            <a:r>
              <a:rPr dirty="0"/>
              <a:t> GitHub </a:t>
            </a:r>
            <a:r>
              <a:rPr dirty="0" err="1"/>
              <a:t>儲存庫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團隊協作標準流程：開立分支、發起</a:t>
            </a:r>
            <a:r>
              <a:rPr dirty="0"/>
              <a:t> Pull Request (PR) </a:t>
            </a:r>
            <a:r>
              <a:rPr dirty="0" err="1"/>
              <a:t>並合併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直觀排解衝突：使用</a:t>
            </a:r>
            <a:r>
              <a:rPr dirty="0"/>
              <a:t> </a:t>
            </a:r>
            <a:r>
              <a:rPr lang="en-US" dirty="0"/>
              <a:t>Sublime </a:t>
            </a:r>
            <a:r>
              <a:rPr lang="en-US" dirty="0" err="1"/>
              <a:t>Merge</a:t>
            </a:r>
            <a:r>
              <a:rPr dirty="0" err="1"/>
              <a:t>圖形介面排除版本衝突</a:t>
            </a:r>
            <a:r>
              <a:rPr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rPr dirty="0" err="1"/>
              <a:t>今日演練實作成果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產出</a:t>
            </a:r>
            <a:r>
              <a:rPr dirty="0"/>
              <a:t> 1：個人專屬的 GitHub </a:t>
            </a:r>
            <a:r>
              <a:rPr dirty="0" err="1"/>
              <a:t>雲端代碼儲存庫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產出</a:t>
            </a:r>
            <a:r>
              <a:rPr dirty="0"/>
              <a:t> 2：一條獨立的 feature/add-memo </a:t>
            </a:r>
            <a:r>
              <a:rPr dirty="0" err="1"/>
              <a:t>功能分支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產出</a:t>
            </a:r>
            <a:r>
              <a:rPr dirty="0"/>
              <a:t> 3：在 GitHub </a:t>
            </a:r>
            <a:r>
              <a:rPr dirty="0" err="1"/>
              <a:t>平台成功提</a:t>
            </a:r>
            <a:r>
              <a:rPr dirty="0"/>
              <a:t> PR </a:t>
            </a:r>
            <a:r>
              <a:rPr dirty="0" err="1"/>
              <a:t>並完成</a:t>
            </a:r>
            <a:r>
              <a:rPr dirty="0"/>
              <a:t> Code Review </a:t>
            </a:r>
            <a:r>
              <a:rPr dirty="0" err="1"/>
              <a:t>合併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產出</a:t>
            </a:r>
            <a:r>
              <a:rPr dirty="0"/>
              <a:t> 4：雙人配對模擬並成功化解版本衝突。</a:t>
            </a:r>
            <a:endParaRPr lang="en-US"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lang="zh-TW" altLang="zh-TW" dirty="0">
                <a:solidFill>
                  <a:srgbClr val="334155"/>
                </a:solidFill>
                <a:hlinkClick r:id="rId2"/>
              </a:rPr>
              <a:t>Git</a:t>
            </a:r>
            <a:endParaRPr lang="en-US" altLang="zh-TW" dirty="0">
              <a:solidFill>
                <a:srgbClr val="334155"/>
              </a:solidFill>
            </a:endParaRP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lang="en-US" dirty="0">
                <a:solidFill>
                  <a:srgbClr val="334155"/>
                </a:solidFill>
              </a:rPr>
              <a:t>https://git-scm.com/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lang="zh-TW" altLang="zh-TW" dirty="0">
                <a:solidFill>
                  <a:srgbClr val="334155"/>
                </a:solidFill>
                <a:hlinkClick r:id="rId3"/>
              </a:rPr>
              <a:t>Sublime Merge | Git client from the makers of Sublime Text</a:t>
            </a:r>
            <a:endParaRPr lang="en-US" altLang="zh-TW" dirty="0">
              <a:solidFill>
                <a:srgbClr val="334155"/>
              </a:solidFill>
            </a:endParaRP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lang="en-US" dirty="0"/>
              <a:t>https://www.sublimemerge.com/</a:t>
            </a:r>
            <a:endParaRPr lang="en-US" dirty="0">
              <a:solidFill>
                <a:srgbClr val="334155"/>
              </a:solidFill>
            </a:endParaRP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lang="en-US" dirty="0">
              <a:solidFill>
                <a:srgbClr val="334155"/>
              </a:solidFill>
            </a:endParaRP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【行程安排】 P.03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下午 3 小時節奏與模組劃分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模組一與模組二 (13:00 - 14:30)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13:00 - 13:45 模組一：Git 核心概念與本地版控三部曲。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設定身分證，執行 git init、add、commit 存檔。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13:45 - 14:30 模組二：GitHub 遠端庫建立與雲端推送。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在 GitHub 建立 Repo，執行 git push 上傳代碼。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休息與模組三、四 (14:30 - 16:00)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14:30 - 14:40 課間休息 10 分鐘。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14:40 - 15:25 模組三：平行分支開發與 Pull Request (PR)。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切換分支，發布 PR 並體驗線上代碼審查與合併。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15:25 - 16:00 模組四：衝突排除與工程師每日協作 SOP。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【概念建立】 P.04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生活化比喻：什麼是 Git 與 GitHub？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Git：電腦裡的單眼相機</a:t>
            </a:r>
            <a:r>
              <a:rPr dirty="0"/>
              <a:t> 📷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定位：裝在個人電腦裡的軟體工具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功能：專門為你的程式碼「拍下時光快照（Snapshot</a:t>
            </a:r>
            <a:r>
              <a:rPr dirty="0"/>
              <a:t>）」。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不需網路：即使斷網，本地存檔依然完整無缺</a:t>
            </a:r>
            <a:r>
              <a:rPr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GitHub：網路上的雲端相簿 ☁️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定位：全球最大的軟體代碼託管與協作平台。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功能：把相機拍下的快照上傳備份。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協作核心：讓團隊成員互相檢視、討論並合併彼此的進度。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【痛點拆解】 P.05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傳統協作的噩夢 vs Git 救星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沒有</a:t>
            </a:r>
            <a:r>
              <a:rPr dirty="0"/>
              <a:t> Git </a:t>
            </a:r>
            <a:r>
              <a:rPr dirty="0" err="1"/>
              <a:t>的悲慘日常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檔案命名地獄：index_v1.html、index_最終版.html、index_真的不改了.html。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覆蓋悲劇：LINE</a:t>
            </a:r>
            <a:r>
              <a:rPr sz="1600" dirty="0"/>
              <a:t> </a:t>
            </a:r>
            <a:r>
              <a:rPr sz="1600" dirty="0" err="1"/>
              <a:t>傳送檔案不小心按了覆蓋，昨晚寫的功能瞬間消失</a:t>
            </a:r>
            <a:r>
              <a:rPr sz="1600" dirty="0"/>
              <a:t>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歷史不可考：網站突然壞掉，完全查不出是誰在何時改了哪一行</a:t>
            </a:r>
            <a:r>
              <a:rPr sz="1600"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有了 Git 之後的優雅人生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檔案名稱永遠乾淨：目錄永遠只有一個 index.html，但內含完整時空節點！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一鍵時光穿梭：隨時可以回到上週、昨天或任何健康的提交節點。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責任清晰明確：每一行代碼都記錄著作者、時間與修改原因。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【核心概念】 P.06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Git 的核心三層空間（生活化解析）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三層工作區域劃分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1. </a:t>
            </a:r>
            <a:r>
              <a:rPr sz="1600" dirty="0" err="1"/>
              <a:t>工作區（Working</a:t>
            </a:r>
            <a:r>
              <a:rPr sz="1600" dirty="0"/>
              <a:t> Tree）：</a:t>
            </a:r>
            <a:r>
              <a:rPr sz="1600" dirty="0" err="1"/>
              <a:t>眼前的辦公桌，正用</a:t>
            </a:r>
            <a:r>
              <a:rPr sz="1600" dirty="0"/>
              <a:t> VS Code </a:t>
            </a:r>
            <a:r>
              <a:rPr sz="1600" dirty="0" err="1"/>
              <a:t>打字的地方</a:t>
            </a:r>
            <a:r>
              <a:rPr sz="1600"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2. </a:t>
            </a:r>
            <a:r>
              <a:rPr sz="1600" dirty="0" err="1"/>
              <a:t>暫存區（Staging</a:t>
            </a:r>
            <a:r>
              <a:rPr sz="1600" dirty="0"/>
              <a:t> Area）：</a:t>
            </a:r>
            <a:r>
              <a:rPr sz="1600" dirty="0" err="1"/>
              <a:t>購物車，把滿意想存檔的檔案裝進來</a:t>
            </a:r>
            <a:r>
              <a:rPr sz="1600"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3. </a:t>
            </a:r>
            <a:r>
              <a:rPr sz="1600" dirty="0" err="1"/>
              <a:t>本地儲存庫（Repository</a:t>
            </a:r>
            <a:r>
              <a:rPr sz="1600" dirty="0"/>
              <a:t>）：</a:t>
            </a:r>
            <a:r>
              <a:rPr sz="1600" dirty="0" err="1"/>
              <a:t>訂單正式成立，寫入永久歷史相簿</a:t>
            </a:r>
            <a:r>
              <a:rPr sz="1600"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狀態變化與對應指令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未暫存：git</a:t>
            </a:r>
            <a:r>
              <a:rPr sz="1600" dirty="0"/>
              <a:t> status </a:t>
            </a:r>
            <a:r>
              <a:rPr sz="1600" dirty="0" err="1"/>
              <a:t>顯示紅字</a:t>
            </a:r>
            <a:r>
              <a:rPr sz="1600"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加入購物車：執行</a:t>
            </a:r>
            <a:r>
              <a:rPr sz="1600" dirty="0"/>
              <a:t> git add .（</a:t>
            </a:r>
            <a:r>
              <a:rPr sz="1600" dirty="0" err="1"/>
              <a:t>顯示綠字</a:t>
            </a:r>
            <a:r>
              <a:rPr sz="1600" dirty="0"/>
              <a:t>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正式結帳拍照：執行</a:t>
            </a:r>
            <a:r>
              <a:rPr sz="1600" dirty="0"/>
              <a:t> git commit -m "</a:t>
            </a:r>
            <a:r>
              <a:rPr sz="1600" dirty="0" err="1"/>
              <a:t>說明</a:t>
            </a:r>
            <a:r>
              <a:rPr sz="1600" dirty="0"/>
              <a:t>"。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【初次設定】 P.07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初次見面：設定你的身分證（Name &amp; Email）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652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設定步驟說明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第一次使用</a:t>
            </a:r>
            <a:r>
              <a:rPr dirty="0"/>
              <a:t> Git </a:t>
            </a:r>
            <a:r>
              <a:rPr dirty="0" err="1"/>
              <a:t>必須告訴系統你是誰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這項資訊會記錄在未來的每一次</a:t>
            </a:r>
            <a:r>
              <a:rPr dirty="0"/>
              <a:t> Commit </a:t>
            </a:r>
            <a:r>
              <a:rPr dirty="0" err="1"/>
              <a:t>標記中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指令一：git</a:t>
            </a:r>
            <a:r>
              <a:rPr dirty="0"/>
              <a:t> config --global user.name "</a:t>
            </a:r>
            <a:r>
              <a:rPr dirty="0" err="1"/>
              <a:t>你的英文姓名</a:t>
            </a:r>
            <a:r>
              <a:rPr dirty="0"/>
              <a:t>"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指令二：git</a:t>
            </a:r>
            <a:r>
              <a:rPr dirty="0"/>
              <a:t> config --global </a:t>
            </a:r>
            <a:r>
              <a:rPr dirty="0" err="1"/>
              <a:t>user.email</a:t>
            </a:r>
            <a:r>
              <a:rPr dirty="0"/>
              <a:t> "</a:t>
            </a:r>
            <a:r>
              <a:rPr dirty="0" err="1"/>
              <a:t>你的</a:t>
            </a:r>
            <a:r>
              <a:rPr dirty="0"/>
              <a:t> Email"</a:t>
            </a:r>
            <a:endParaRPr lang="en-US"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lang="en-US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zh-TW" altLang="en-US" dirty="0"/>
              <a:t>在 </a:t>
            </a:r>
            <a:r>
              <a:rPr lang="en-US" dirty="0"/>
              <a:t>Sublime Text </a:t>
            </a:r>
            <a:r>
              <a:rPr lang="zh-TW" altLang="en-US" dirty="0"/>
              <a:t>主畫面按下快捷鍵：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en-US" dirty="0" err="1"/>
              <a:t>Windows：Ctrl</a:t>
            </a:r>
            <a:r>
              <a:rPr lang="en-US" dirty="0"/>
              <a:t> + Shift + P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en-US" dirty="0" err="1"/>
              <a:t>macOS：Cmd</a:t>
            </a:r>
            <a:r>
              <a:rPr lang="en-US" dirty="0"/>
              <a:t> + Shift + P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zh-TW" altLang="zh-TW" sz="1300" dirty="0">
                <a:solidFill>
                  <a:srgbClr val="334155"/>
                </a:solidFill>
              </a:rPr>
              <a:t>在輸入框打：</a:t>
            </a:r>
            <a:r>
              <a:rPr lang="zh-TW" altLang="zh-TW" sz="1300" b="1" dirty="0">
                <a:solidFill>
                  <a:srgbClr val="334155"/>
                </a:solidFill>
              </a:rPr>
              <a:t>git config</a:t>
            </a:r>
            <a:endParaRPr lang="en-US" altLang="zh-TW" sz="1300" b="1" dirty="0">
              <a:solidFill>
                <a:srgbClr val="334155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en-US" b="1" dirty="0"/>
              <a:t>Open config file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zh-TW" altLang="zh-TW" sz="1300" dirty="0">
                <a:solidFill>
                  <a:srgbClr val="334155"/>
                </a:solidFill>
              </a:rPr>
              <a:t>[user] </a:t>
            </a:r>
            <a:endParaRPr lang="en-US" altLang="zh-TW" sz="1300" dirty="0">
              <a:solidFill>
                <a:srgbClr val="334155"/>
              </a:solidFill>
            </a:endParaRP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zh-TW" altLang="zh-TW" sz="1300" dirty="0">
                <a:solidFill>
                  <a:srgbClr val="334155"/>
                </a:solidFill>
              </a:rPr>
              <a:t>name = 你的英文姓名 </a:t>
            </a:r>
            <a:endParaRPr lang="en-US" altLang="zh-TW" sz="1300" dirty="0">
              <a:solidFill>
                <a:srgbClr val="334155"/>
              </a:solidFill>
            </a:endParaRP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4155"/>
                </a:solidFill>
              </a:defRPr>
            </a:pPr>
            <a:r>
              <a:rPr lang="zh-TW" altLang="zh-TW" sz="1300" dirty="0">
                <a:solidFill>
                  <a:srgbClr val="334155"/>
                </a:solidFill>
              </a:rPr>
              <a:t>email = 你的Email</a:t>
            </a:r>
            <a:endParaRPr lang="en-US" b="1"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注意事項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Email 建議與未來註冊 GitHub 的 Email 完全一致。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此步驟每台電腦只需執行一次，全域自動生效！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56F16FD-0F6E-3EA5-9709-226C4B14C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291" y="3124834"/>
            <a:ext cx="4001058" cy="27816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A666B-ACDD-9A8C-6427-32AD5543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DDC52-FEA0-5AD7-6292-A1D4873884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lvl="0"/>
                <a:r>
                  <a:rPr lang="en-TW" b="1" dirty="0"/>
                  <a:t>第一步： </a:t>
                </a:r>
                <a:r>
                  <a:rPr lang="en-TW" dirty="0"/>
                  <a:t>前往 GitHub 的權杖設定頁面：</a:t>
                </a:r>
              </a:p>
              <a:p>
                <a:pPr lvl="1"/>
                <a:r>
                  <a:rPr lang="en-TW" dirty="0"/>
                  <a:t>點擊右上角個人頭像 </a:t>
                </a:r>
                <a14:m>
                  <m:oMath xmlns:m="http://schemas.openxmlformats.org/officeDocument/2006/math">
                    <m:r>
                      <a:rPr lang="zh-TW" altLang="en-US"/>
                      <m:t>→</m:t>
                    </m:r>
                  </m:oMath>
                </a14:m>
                <a:r>
                  <a:rPr lang="en-TW" b="1" dirty="0"/>
                  <a:t>Settings</a:t>
                </a:r>
                <a:r>
                  <a:rPr lang="en-TW" dirty="0"/>
                  <a:t>（設定）。</a:t>
                </a:r>
              </a:p>
              <a:p>
                <a:pPr lvl="1"/>
                <a:r>
                  <a:rPr lang="en-TW" dirty="0"/>
                  <a:t>在左側選單滑到最底部，點擊 </a:t>
                </a:r>
                <a:r>
                  <a:rPr lang="en-TW" b="1" dirty="0"/>
                  <a:t>Developer settings</a:t>
                </a:r>
                <a:r>
                  <a:rPr lang="en-TW" dirty="0"/>
                  <a:t>。</a:t>
                </a:r>
              </a:p>
              <a:p>
                <a:pPr lvl="1"/>
                <a:r>
                  <a:rPr lang="en-TW" dirty="0"/>
                  <a:t>點開左側的 </a:t>
                </a:r>
                <a:r>
                  <a:rPr lang="en-TW" b="1" dirty="0"/>
                  <a:t>Personal access tokens</a:t>
                </a:r>
                <a:r>
                  <a:rPr lang="en-TW" dirty="0"/>
                  <a:t> </a:t>
                </a:r>
                <a14:m>
                  <m:oMath xmlns:m="http://schemas.openxmlformats.org/officeDocument/2006/math">
                    <m:r>
                      <a:rPr lang="zh-TW" altLang="en-US"/>
                      <m:t>→</m:t>
                    </m:r>
                  </m:oMath>
                </a14:m>
                <a:r>
                  <a:rPr lang="en-TW" dirty="0"/>
                  <a:t>選擇 </a:t>
                </a:r>
                <a:r>
                  <a:rPr lang="en-TW" b="1" dirty="0"/>
                  <a:t>Tokens (classic)</a:t>
                </a:r>
                <a:r>
                  <a:rPr lang="en-TW" dirty="0"/>
                  <a:t>。</a:t>
                </a:r>
              </a:p>
              <a:p>
                <a:pPr lvl="1"/>
                <a:r>
                  <a:rPr lang="en-TW" i="1" dirty="0"/>
                  <a:t>(或直接在瀏覽器網址列輸入：[https://github.com/settings/tokens](https://github.com/settings/tokens))</a:t>
                </a:r>
                <a:endParaRPr lang="en-TW" dirty="0"/>
              </a:p>
              <a:p>
                <a:pPr lvl="0"/>
                <a:r>
                  <a:rPr lang="en-TW" dirty="0"/>
                  <a:t>點擊右上角的 </a:t>
                </a:r>
                <a:r>
                  <a:rPr lang="en-TW" b="1" dirty="0"/>
                  <a:t>Generate new token</a:t>
                </a:r>
                <a:r>
                  <a:rPr lang="en-TW" dirty="0"/>
                  <a:t> </a:t>
                </a:r>
                <a14:m>
                  <m:oMath xmlns:m="http://schemas.openxmlformats.org/officeDocument/2006/math">
                    <m:r>
                      <a:rPr lang="zh-TW" altLang="en-US"/>
                      <m:t>→</m:t>
                    </m:r>
                  </m:oMath>
                </a14:m>
                <a:r>
                  <a:rPr lang="en-TW" dirty="0"/>
                  <a:t>選擇 </a:t>
                </a:r>
                <a:r>
                  <a:rPr lang="en-TW" b="1" dirty="0"/>
                  <a:t>Generate new token (classic)</a:t>
                </a:r>
                <a:r>
                  <a:rPr lang="en-TW" dirty="0"/>
                  <a:t>。</a:t>
                </a:r>
              </a:p>
              <a:p>
                <a:pPr lvl="0"/>
                <a:r>
                  <a:rPr lang="en-TW" dirty="0"/>
                  <a:t>設定權杖資訊：</a:t>
                </a:r>
              </a:p>
              <a:p>
                <a:pPr lvl="1"/>
                <a:r>
                  <a:rPr lang="en-TW" b="1" dirty="0"/>
                  <a:t>Note（說明）</a:t>
                </a:r>
                <a:r>
                  <a:rPr lang="en-TW" dirty="0"/>
                  <a:t>：填入識別用途的名稱（例如：Mac Git Token 或你的專案名稱）。</a:t>
                </a:r>
              </a:p>
              <a:p>
                <a:pPr lvl="1"/>
                <a:r>
                  <a:rPr lang="en-TW" b="1" dirty="0"/>
                  <a:t>Expiration（有效期限）</a:t>
                </a:r>
                <a:r>
                  <a:rPr lang="en-TW" dirty="0"/>
                  <a:t>：依需求選擇（建議 30 天、90 天或自訂）。</a:t>
                </a:r>
              </a:p>
              <a:p>
                <a:pPr lvl="1"/>
                <a:r>
                  <a:rPr lang="en-TW" b="1" dirty="0"/>
                  <a:t>Select scopes（勾選權限）</a:t>
                </a:r>
                <a:r>
                  <a:rPr lang="en-TW" dirty="0"/>
                  <a:t>：</a:t>
                </a:r>
              </a:p>
              <a:p>
                <a:pPr lvl="2"/>
                <a:r>
                  <a:rPr lang="en-TW" dirty="0"/>
                  <a:t>如果是要進行一般的 Git 推送/拉取（Push / Pull），</a:t>
                </a:r>
                <a:r>
                  <a:rPr lang="en-TW" b="1" dirty="0"/>
                  <a:t>務必勾選 repo</a:t>
                </a:r>
                <a:r>
                  <a:rPr lang="en-TW" dirty="0"/>
                  <a:t>（包含其下的所有子項）。</a:t>
                </a:r>
              </a:p>
              <a:p>
                <a:pPr lvl="2"/>
                <a:r>
                  <a:rPr lang="en-TW" dirty="0"/>
                  <a:t>如果專案有用到工作流，可視需求加勾 workflow。</a:t>
                </a:r>
              </a:p>
              <a:p>
                <a:pPr lvl="0"/>
                <a:r>
                  <a:rPr lang="en-TW" dirty="0"/>
                  <a:t>滑到頁面最下方，點擊綠色的 </a:t>
                </a:r>
                <a:r>
                  <a:rPr lang="en-TW" b="1" dirty="0"/>
                  <a:t>Generate token</a:t>
                </a:r>
                <a:r>
                  <a:rPr lang="en-TW" dirty="0"/>
                  <a:t> 按鈕。</a:t>
                </a:r>
              </a:p>
              <a:p>
                <a:pPr lvl="0"/>
                <a:r>
                  <a:rPr lang="en-TW" b="1" dirty="0"/>
                  <a:t>複製權杖</a:t>
                </a:r>
                <a:r>
                  <a:rPr lang="en-TW" dirty="0"/>
                  <a:t>：</a:t>
                </a:r>
              </a:p>
              <a:p>
                <a:pPr lvl="1"/>
                <a:r>
                  <a:rPr lang="en-TW" dirty="0"/>
                  <a:t>畫面會顯示一串以 ghp_ 開頭的字串。</a:t>
                </a:r>
              </a:p>
              <a:p>
                <a:pPr lvl="1"/>
                <a:r>
                  <a:rPr lang="en-TW" b="1" dirty="0"/>
                  <a:t>立即複製並妥善保存</a:t>
                </a:r>
                <a:r>
                  <a:rPr lang="en-TW" dirty="0"/>
                  <a:t>（此字串離開頁面後就無法再看到，若遺失只能重新生成）。</a:t>
                </a:r>
              </a:p>
              <a:p>
                <a:r>
                  <a:rPr lang="en-TW" b="1" dirty="0"/>
                  <a:t>第二步：回到彈出視窗填入</a:t>
                </a:r>
              </a:p>
              <a:p>
                <a:pPr lvl="0"/>
                <a:r>
                  <a:rPr lang="en-TW" b="1" dirty="0"/>
                  <a:t>Username</a:t>
                </a:r>
                <a:r>
                  <a:rPr lang="en-TW" dirty="0"/>
                  <a:t>：輸入你的 GitHub 帳號。</a:t>
                </a:r>
              </a:p>
              <a:p>
                <a:pPr lvl="0"/>
                <a:r>
                  <a:rPr lang="en-TW" b="1" dirty="0"/>
                  <a:t>Personal Access Token</a:t>
                </a:r>
                <a:r>
                  <a:rPr lang="en-TW" dirty="0"/>
                  <a:t>：貼上剛才複製的 ghp_... 權杖。</a:t>
                </a:r>
              </a:p>
              <a:p>
                <a:pPr lvl="0"/>
                <a:r>
                  <a:rPr lang="en-TW" dirty="0"/>
                  <a:t>點擊 </a:t>
                </a:r>
                <a:r>
                  <a:rPr lang="en-TW" b="1" dirty="0"/>
                  <a:t>OK</a:t>
                </a:r>
                <a:r>
                  <a:rPr lang="en-TW" dirty="0"/>
                  <a:t> 即可完成驗證。</a:t>
                </a:r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DDC52-FEA0-5AD7-6292-A1D4873884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6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00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【指令心法】 P.08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本地版控黃金口訣：看、加、存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每天必經的三部曲循環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1. </a:t>
            </a:r>
            <a:r>
              <a:rPr dirty="0" err="1"/>
              <a:t>看狀態：git</a:t>
            </a:r>
            <a:r>
              <a:rPr dirty="0"/>
              <a:t> </a:t>
            </a:r>
            <a:r>
              <a:rPr dirty="0" err="1"/>
              <a:t>status（掌握當前檔案異動情況</a:t>
            </a:r>
            <a:r>
              <a:rPr dirty="0"/>
              <a:t>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2. </a:t>
            </a:r>
            <a:r>
              <a:rPr dirty="0" err="1"/>
              <a:t>加暫存：git</a:t>
            </a:r>
            <a:r>
              <a:rPr dirty="0"/>
              <a:t> add .（</a:t>
            </a:r>
            <a:r>
              <a:rPr dirty="0" err="1"/>
              <a:t>將所有改動裝進購物車，注意最後有個點</a:t>
            </a:r>
            <a:r>
              <a:rPr dirty="0"/>
              <a:t>！）。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3. </a:t>
            </a:r>
            <a:r>
              <a:rPr dirty="0" err="1"/>
              <a:t>存快照：git</a:t>
            </a:r>
            <a:r>
              <a:rPr dirty="0"/>
              <a:t> commit -m "</a:t>
            </a:r>
            <a:r>
              <a:rPr dirty="0" err="1"/>
              <a:t>清楚訊息</a:t>
            </a:r>
            <a:r>
              <a:rPr dirty="0"/>
              <a:t>"（</a:t>
            </a:r>
            <a:r>
              <a:rPr dirty="0" err="1"/>
              <a:t>蓋下時光鋼印</a:t>
            </a:r>
            <a:r>
              <a:rPr dirty="0"/>
              <a:t>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如何查看過去的相簿</a:t>
            </a:r>
            <a:r>
              <a:rPr dirty="0"/>
              <a:t>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執行指令：git</a:t>
            </a:r>
            <a:r>
              <a:rPr dirty="0"/>
              <a:t> log --</a:t>
            </a:r>
            <a:r>
              <a:rPr dirty="0" err="1"/>
              <a:t>oneline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終端機會印出一行式的簡明歷史，前方</a:t>
            </a:r>
            <a:r>
              <a:rPr dirty="0"/>
              <a:t> 7 </a:t>
            </a:r>
            <a:r>
              <a:rPr dirty="0" err="1"/>
              <a:t>碼即為專屬</a:t>
            </a:r>
            <a:r>
              <a:rPr dirty="0"/>
              <a:t> Commit ID！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rPr dirty="0"/>
              <a:t>【</a:t>
            </a:r>
            <a:r>
              <a:rPr dirty="0" err="1"/>
              <a:t>專業規範</a:t>
            </a:r>
            <a:r>
              <a:rPr dirty="0"/>
              <a:t>】 P.09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 err="1"/>
              <a:t>優質的</a:t>
            </a:r>
            <a:r>
              <a:rPr dirty="0"/>
              <a:t> Commit </a:t>
            </a:r>
            <a:r>
              <a:rPr dirty="0" err="1"/>
              <a:t>訊息怎麼寫</a:t>
            </a:r>
            <a:r>
              <a:rPr dirty="0"/>
              <a:t>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❌ 令人崩潰的菜鳥寫法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update（改了什麼完全沒人知道）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111、test（測試留下的無效訊息）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fix bug（修了哪個模組的 bug？）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終於改好了啦（情緒抒發無助追查）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/>
              <a:t>✅ </a:t>
            </a:r>
            <a:r>
              <a:rPr dirty="0" err="1"/>
              <a:t>業界規範寫法（前綴詞標準</a:t>
            </a:r>
            <a:r>
              <a:rPr dirty="0"/>
              <a:t>）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BE42164-10C2-7FBD-B207-39B31D412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177359"/>
              </p:ext>
            </p:extLst>
          </p:nvPr>
        </p:nvGraphicFramePr>
        <p:xfrm>
          <a:off x="6629400" y="2195287"/>
          <a:ext cx="4522304" cy="36632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448638303"/>
                    </a:ext>
                  </a:extLst>
                </a:gridCol>
                <a:gridCol w="1848678">
                  <a:extLst>
                    <a:ext uri="{9D8B030D-6E8A-4147-A177-3AD203B41FA5}">
                      <a16:colId xmlns:a16="http://schemas.microsoft.com/office/drawing/2014/main" val="2652763296"/>
                    </a:ext>
                  </a:extLst>
                </a:gridCol>
                <a:gridCol w="1987826">
                  <a:extLst>
                    <a:ext uri="{9D8B030D-6E8A-4147-A177-3AD203B41FA5}">
                      <a16:colId xmlns:a16="http://schemas.microsoft.com/office/drawing/2014/main" val="2569867549"/>
                    </a:ext>
                  </a:extLst>
                </a:gridCol>
              </a:tblGrid>
              <a:tr h="149466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Type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說明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範例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extLst>
                  <a:ext uri="{0D108BD9-81ED-4DB2-BD59-A6C34878D82A}">
                    <a16:rowId xmlns:a16="http://schemas.microsoft.com/office/drawing/2014/main" val="1252178036"/>
                  </a:ext>
                </a:extLst>
              </a:tr>
              <a:tr h="24555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solidFill>
                            <a:srgbClr val="FF0000"/>
                          </a:solidFill>
                          <a:effectLst/>
                        </a:rPr>
                        <a:t>feat</a:t>
                      </a:r>
                      <a:endParaRPr lang="zh-TW" sz="1050" dirty="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solidFill>
                            <a:srgbClr val="FF0000"/>
                          </a:solidFill>
                          <a:effectLst/>
                        </a:rPr>
                        <a:t>新增功能 (Feature)</a:t>
                      </a:r>
                      <a:endParaRPr lang="zh-TW" sz="1050" dirty="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solidFill>
                            <a:srgbClr val="FF0000"/>
                          </a:solidFill>
                          <a:effectLst/>
                        </a:rPr>
                        <a:t>feat(auth): add google oauth login flow</a:t>
                      </a:r>
                      <a:endParaRPr lang="zh-TW" sz="1050" dirty="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extLst>
                  <a:ext uri="{0D108BD9-81ED-4DB2-BD59-A6C34878D82A}">
                    <a16:rowId xmlns:a16="http://schemas.microsoft.com/office/drawing/2014/main" val="2495817042"/>
                  </a:ext>
                </a:extLst>
              </a:tr>
              <a:tr h="341637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solidFill>
                            <a:srgbClr val="FF0000"/>
                          </a:solidFill>
                          <a:effectLst/>
                        </a:rPr>
                        <a:t>fix</a:t>
                      </a:r>
                      <a:endParaRPr lang="zh-TW" sz="105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solidFill>
                            <a:srgbClr val="FF0000"/>
                          </a:solidFill>
                          <a:effectLst/>
                        </a:rPr>
                        <a:t>修復 Bug</a:t>
                      </a:r>
                      <a:endParaRPr lang="zh-TW" sz="105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solidFill>
                            <a:srgbClr val="FF0000"/>
                          </a:solidFill>
                          <a:effectLst/>
                        </a:rPr>
                        <a:t>fix(cart): resolve negative total calculation on discount</a:t>
                      </a:r>
                      <a:endParaRPr lang="zh-TW" sz="1050" dirty="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extLst>
                  <a:ext uri="{0D108BD9-81ED-4DB2-BD59-A6C34878D82A}">
                    <a16:rowId xmlns:a16="http://schemas.microsoft.com/office/drawing/2014/main" val="420643530"/>
                  </a:ext>
                </a:extLst>
              </a:tr>
              <a:tr h="24555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solidFill>
                            <a:srgbClr val="FF0000"/>
                          </a:solidFill>
                          <a:effectLst/>
                        </a:rPr>
                        <a:t>refactor</a:t>
                      </a:r>
                      <a:endParaRPr lang="zh-TW" sz="1050" dirty="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solidFill>
                            <a:srgbClr val="FF0000"/>
                          </a:solidFill>
                          <a:effectLst/>
                        </a:rPr>
                        <a:t>重構（非新增功能亦非修復 bug 的程式碼異動）</a:t>
                      </a:r>
                      <a:endParaRPr lang="zh-TW" sz="1050" dirty="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solidFill>
                            <a:srgbClr val="FF0000"/>
                          </a:solidFill>
                          <a:effectLst/>
                        </a:rPr>
                        <a:t>refactor(db): optimize user query with pagination</a:t>
                      </a:r>
                      <a:endParaRPr lang="zh-TW" sz="1050" dirty="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extLst>
                  <a:ext uri="{0D108BD9-81ED-4DB2-BD59-A6C34878D82A}">
                    <a16:rowId xmlns:a16="http://schemas.microsoft.com/office/drawing/2014/main" val="1721757968"/>
                  </a:ext>
                </a:extLst>
              </a:tr>
              <a:tr h="24555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perf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effectLst/>
                        </a:rPr>
                        <a:t>提升效能的變更</a:t>
                      </a:r>
                      <a:endParaRPr lang="zh-TW" sz="1050" dirty="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perf(image): lazy load hero banners to improve lcp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extLst>
                  <a:ext uri="{0D108BD9-81ED-4DB2-BD59-A6C34878D82A}">
                    <a16:rowId xmlns:a16="http://schemas.microsoft.com/office/drawing/2014/main" val="2383194162"/>
                  </a:ext>
                </a:extLst>
              </a:tr>
              <a:tr h="24555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docs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effectLst/>
                        </a:rPr>
                        <a:t>僅更新文件 (README, API docs)</a:t>
                      </a:r>
                      <a:endParaRPr lang="zh-TW" sz="1050" dirty="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docs: update deployment guidelines for staging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extLst>
                  <a:ext uri="{0D108BD9-81ED-4DB2-BD59-A6C34878D82A}">
                    <a16:rowId xmlns:a16="http://schemas.microsoft.com/office/drawing/2014/main" val="1503608085"/>
                  </a:ext>
                </a:extLst>
              </a:tr>
              <a:tr h="24555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solidFill>
                            <a:srgbClr val="FF0000"/>
                          </a:solidFill>
                          <a:effectLst/>
                        </a:rPr>
                        <a:t>style</a:t>
                      </a:r>
                      <a:endParaRPr lang="zh-TW" sz="1050" dirty="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solidFill>
                            <a:srgbClr val="FF0000"/>
                          </a:solidFill>
                          <a:effectLst/>
                        </a:rPr>
                        <a:t>不影響程式邏輯的格式調整 (空白、分號、縮排)</a:t>
                      </a:r>
                      <a:endParaRPr lang="zh-TW" sz="1050" dirty="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solidFill>
                            <a:srgbClr val="FF0000"/>
                          </a:solidFill>
                          <a:effectLst/>
                        </a:rPr>
                        <a:t>style: format imports and fix indentation</a:t>
                      </a:r>
                      <a:endParaRPr lang="zh-TW" sz="1050" dirty="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extLst>
                  <a:ext uri="{0D108BD9-81ED-4DB2-BD59-A6C34878D82A}">
                    <a16:rowId xmlns:a16="http://schemas.microsoft.com/office/drawing/2014/main" val="1496317075"/>
                  </a:ext>
                </a:extLst>
              </a:tr>
              <a:tr h="341637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test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新增或修改測試案例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test(order): add unit tests for idempotency key verification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extLst>
                  <a:ext uri="{0D108BD9-81ED-4DB2-BD59-A6C34878D82A}">
                    <a16:rowId xmlns:a16="http://schemas.microsoft.com/office/drawing/2014/main" val="3463565348"/>
                  </a:ext>
                </a:extLst>
              </a:tr>
              <a:tr h="24555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chore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建置流程、依賴升級或輔助工具的異動</a:t>
                      </a:r>
                      <a:endParaRPr lang="zh-TW" sz="105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zh-TW" sz="1050" dirty="0">
                          <a:effectLst/>
                        </a:rPr>
                        <a:t>chore(deps): upgrade bootstrap to 5.3.3</a:t>
                      </a:r>
                      <a:endParaRPr lang="zh-TW" sz="1050" dirty="0">
                        <a:effectLst/>
                        <a:latin typeface="Google Sans Text"/>
                      </a:endParaRPr>
                    </a:p>
                  </a:txBody>
                  <a:tcPr marL="78576" marR="78576" marT="52384" marB="52384" anchor="ctr"/>
                </a:tc>
                <a:extLst>
                  <a:ext uri="{0D108BD9-81ED-4DB2-BD59-A6C34878D82A}">
                    <a16:rowId xmlns:a16="http://schemas.microsoft.com/office/drawing/2014/main" val="7589782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【範例解說】 P.10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【實例解說】在專案中執行 git init 到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終端機完整歷程示範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cd my-project -&gt; </a:t>
            </a:r>
            <a:r>
              <a:rPr dirty="0" err="1"/>
              <a:t>進入專案資料夾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git </a:t>
            </a:r>
            <a:r>
              <a:rPr dirty="0" err="1"/>
              <a:t>init</a:t>
            </a:r>
            <a:r>
              <a:rPr dirty="0"/>
              <a:t> -&gt; </a:t>
            </a:r>
            <a:r>
              <a:rPr dirty="0" err="1"/>
              <a:t>初始化，產生</a:t>
            </a:r>
            <a:r>
              <a:rPr dirty="0"/>
              <a:t> .git </a:t>
            </a:r>
            <a:r>
              <a:rPr dirty="0" err="1"/>
              <a:t>隱藏目錄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git status -&gt; </a:t>
            </a:r>
            <a:r>
              <a:rPr dirty="0" err="1"/>
              <a:t>檢視狀態，顯示</a:t>
            </a:r>
            <a:r>
              <a:rPr dirty="0"/>
              <a:t> index.html 為 </a:t>
            </a:r>
            <a:r>
              <a:rPr dirty="0" err="1"/>
              <a:t>Untracked（紅字</a:t>
            </a:r>
            <a:r>
              <a:rPr dirty="0"/>
              <a:t>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git add . -&gt; </a:t>
            </a:r>
            <a:r>
              <a:rPr dirty="0" err="1"/>
              <a:t>加入暫存區，變成綠字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git commit -m "feat: </a:t>
            </a:r>
            <a:r>
              <a:rPr dirty="0" err="1"/>
              <a:t>完成上午</a:t>
            </a:r>
            <a:r>
              <a:rPr dirty="0"/>
              <a:t> Bootstrap </a:t>
            </a:r>
            <a:r>
              <a:rPr dirty="0" err="1"/>
              <a:t>表單</a:t>
            </a:r>
            <a:r>
              <a:rPr dirty="0"/>
              <a:t>" -&gt; </a:t>
            </a:r>
            <a:r>
              <a:rPr dirty="0" err="1"/>
              <a:t>完成快照</a:t>
            </a:r>
            <a:r>
              <a:rPr dirty="0"/>
              <a:t>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核心理解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lang="en-US" dirty="0"/>
              <a:t>.</a:t>
            </a:r>
            <a:r>
              <a:rPr lang="en-US" dirty="0" err="1"/>
              <a:t>gitconfig</a:t>
            </a:r>
            <a:r>
              <a:rPr lang="en-US" dirty="0"/>
              <a:t>：</a:t>
            </a:r>
            <a:r>
              <a:rPr lang="zh-TW" altLang="en-US" dirty="0"/>
              <a:t>設定你的全域身分（</a:t>
            </a:r>
            <a:r>
              <a:rPr lang="en-US" dirty="0" err="1"/>
              <a:t>user.name、user.email</a:t>
            </a:r>
            <a:r>
              <a:rPr lang="en-US" dirty="0"/>
              <a:t>）。 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lang="en-US" altLang="zh-TW" dirty="0"/>
              <a:t>.</a:t>
            </a:r>
            <a:r>
              <a:rPr lang="en-US" dirty="0" err="1"/>
              <a:t>gitignore</a:t>
            </a:r>
            <a:r>
              <a:rPr lang="en-US" dirty="0"/>
              <a:t>：</a:t>
            </a:r>
            <a:r>
              <a:rPr lang="zh-TW" altLang="en-US" dirty="0"/>
              <a:t>指定「哪些檔案不要被 </a:t>
            </a:r>
            <a:r>
              <a:rPr lang="en-US" dirty="0"/>
              <a:t>Git </a:t>
            </a:r>
            <a:r>
              <a:rPr lang="zh-TW" altLang="en-US" dirty="0"/>
              <a:t>追蹤」（如 </a:t>
            </a:r>
            <a:r>
              <a:rPr lang="en-US" dirty="0" err="1"/>
              <a:t>node_modules</a:t>
            </a:r>
            <a:r>
              <a:rPr lang="en-US" dirty="0"/>
              <a:t>/、.</a:t>
            </a:r>
            <a:r>
              <a:rPr lang="en-US" dirty="0" err="1"/>
              <a:t>DS_Store</a:t>
            </a:r>
            <a:r>
              <a:rPr lang="en-US" dirty="0"/>
              <a:t>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lang="en-US" dirty="0"/>
              <a:t>.</a:t>
            </a:r>
            <a:r>
              <a:rPr lang="en-US" dirty="0" err="1"/>
              <a:t>gitattributes</a:t>
            </a:r>
            <a:r>
              <a:rPr lang="en-US" dirty="0"/>
              <a:t>：</a:t>
            </a:r>
            <a:r>
              <a:rPr lang="zh-TW" altLang="en-US" dirty="0"/>
              <a:t>指定「不同附檔名檔案的格式規則」（換行符號 </a:t>
            </a:r>
            <a:r>
              <a:rPr lang="en-US" dirty="0" err="1"/>
              <a:t>eol</a:t>
            </a:r>
            <a:r>
              <a:rPr lang="en-US" dirty="0"/>
              <a:t> </a:t>
            </a:r>
            <a:r>
              <a:rPr lang="zh-TW" altLang="en-US" dirty="0"/>
              <a:t>或 </a:t>
            </a:r>
            <a:r>
              <a:rPr lang="en-US" dirty="0"/>
              <a:t>binary）。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BA21-2A30-7D5F-5563-9E715DB2D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5A6422-815C-B8A4-B7FD-17524180942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8F05A-1D4D-CCC1-EB46-AD59B85433F0}"/>
              </a:ext>
            </a:extLst>
          </p:cNvPr>
          <p:cNvSpPr txBox="1"/>
          <p:nvPr/>
        </p:nvSpPr>
        <p:spPr>
          <a:xfrm>
            <a:off x="731520" y="365760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【</a:t>
            </a:r>
            <a:r>
              <a:rPr dirty="0" err="1"/>
              <a:t>實例解說</a:t>
            </a:r>
            <a:r>
              <a:rPr dirty="0"/>
              <a:t>】</a:t>
            </a:r>
            <a:r>
              <a:rPr lang="zh-TW" altLang="zh-TW" sz="2200" b="1" dirty="0">
                <a:solidFill>
                  <a:srgbClr val="0F172A"/>
                </a:solidFill>
              </a:rPr>
              <a:t>gitattributes</a:t>
            </a:r>
            <a:r>
              <a:rPr lang="zh-TW" altLang="en-US" sz="2200" b="1" dirty="0">
                <a:solidFill>
                  <a:srgbClr val="0F172A"/>
                </a:solidFill>
              </a:rPr>
              <a:t>及</a:t>
            </a:r>
            <a:r>
              <a:rPr lang="zh-TW" altLang="zh-TW" sz="2200" b="1" dirty="0">
                <a:solidFill>
                  <a:srgbClr val="0F172A"/>
                </a:solidFill>
              </a:rPr>
              <a:t>gitignore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3C04E0-8A89-0E93-750C-364242A6A48D}"/>
              </a:ext>
            </a:extLst>
          </p:cNvPr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E5BB11-AD7D-5FE8-04F7-DF0FC244D161}"/>
              </a:ext>
            </a:extLst>
          </p:cNvPr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A58DB-F344-C8B7-6C92-0D3C9788F721}"/>
              </a:ext>
            </a:extLst>
          </p:cNvPr>
          <p:cNvSpPr txBox="1"/>
          <p:nvPr/>
        </p:nvSpPr>
        <p:spPr>
          <a:xfrm>
            <a:off x="914400" y="1737360"/>
            <a:ext cx="480060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lang="zh-TW" altLang="zh-TW" sz="1600" b="1" dirty="0">
                <a:solidFill>
                  <a:srgbClr val="0284C7"/>
                </a:solidFill>
              </a:rPr>
              <a:t>gitattributes</a:t>
            </a:r>
            <a:endParaRPr lang="zh-TW" altLang="en-US" sz="1600" b="1" dirty="0">
              <a:solidFill>
                <a:srgbClr val="0284C7"/>
              </a:solidFill>
            </a:endParaRP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lang="zh-TW" alt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7458288-5376-7032-CCDB-DB5966E57855}"/>
              </a:ext>
            </a:extLst>
          </p:cNvPr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E39707-15FE-1860-BF3E-3504979D2790}"/>
              </a:ext>
            </a:extLst>
          </p:cNvPr>
          <p:cNvSpPr txBox="1"/>
          <p:nvPr/>
        </p:nvSpPr>
        <p:spPr>
          <a:xfrm>
            <a:off x="6446520" y="1737360"/>
            <a:ext cx="4800600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lang="zh-TW" altLang="zh-TW" sz="1600" b="1" dirty="0">
                <a:solidFill>
                  <a:srgbClr val="0284C7"/>
                </a:solidFill>
              </a:rPr>
              <a:t>gitignore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B11AE89-1277-B509-EE33-1CEBD88E09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6"/>
          <a:stretch>
            <a:fillRect/>
          </a:stretch>
        </p:blipFill>
        <p:spPr>
          <a:xfrm>
            <a:off x="1031950" y="2295425"/>
            <a:ext cx="4589886" cy="341626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7D197BC-AF9B-FE7C-8D84-0654B69BA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553" y="1737360"/>
            <a:ext cx="3328977" cy="420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9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【實作步驟】 P.11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【操作步驟】動手完成第一次本地 Commit 快照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實作引導步驟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1：在 </a:t>
            </a:r>
            <a:r>
              <a:rPr lang="en-US" dirty="0"/>
              <a:t>Sublime </a:t>
            </a:r>
            <a:r>
              <a:rPr lang="en-US" dirty="0" err="1"/>
              <a:t>Merge</a:t>
            </a:r>
            <a:r>
              <a:rPr dirty="0" err="1"/>
              <a:t>開啟表單專案資料夾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2：</a:t>
            </a:r>
            <a:r>
              <a:rPr lang="zh-TW" altLang="en-US" dirty="0"/>
              <a:t>下載</a:t>
            </a:r>
            <a:r>
              <a:rPr lang="en-US" altLang="zh-TW" dirty="0"/>
              <a:t>Repositories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3：</a:t>
            </a:r>
            <a:r>
              <a:rPr lang="zh-TW" altLang="en-US" dirty="0"/>
              <a:t>檢查</a:t>
            </a:r>
            <a:r>
              <a:rPr lang="en-US" altLang="zh-TW" dirty="0"/>
              <a:t>Commits</a:t>
            </a:r>
            <a:r>
              <a:rPr lang="zh-TW" altLang="en-US" dirty="0"/>
              <a:t>歷程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4：</a:t>
            </a:r>
            <a:r>
              <a:rPr lang="zh-TW" altLang="en-US" dirty="0"/>
              <a:t>修改任一檔案確認</a:t>
            </a:r>
            <a:r>
              <a:rPr lang="en-US" altLang="zh-TW" dirty="0"/>
              <a:t>Summary</a:t>
            </a:r>
            <a:r>
              <a:rPr lang="zh-TW" altLang="en-US" dirty="0"/>
              <a:t>變更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5：</a:t>
            </a:r>
            <a:r>
              <a:rPr lang="en-US" dirty="0"/>
              <a:t>Stage</a:t>
            </a:r>
            <a:r>
              <a:rPr lang="zh-TW" altLang="en-US" dirty="0"/>
              <a:t>並檢查</a:t>
            </a:r>
            <a:r>
              <a:rPr lang="en-US" altLang="zh-TW" dirty="0"/>
              <a:t>Files</a:t>
            </a:r>
            <a:r>
              <a:rPr lang="zh-TW" altLang="en-US" dirty="0"/>
              <a:t>變動</a:t>
            </a:r>
            <a:endParaRPr lang="en-US" altLang="zh-TW"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lang="en-US" altLang="zh-TW" dirty="0"/>
              <a:t>•  </a:t>
            </a:r>
            <a:r>
              <a:rPr lang="zh-TW" altLang="en-US" dirty="0"/>
              <a:t>步驟 </a:t>
            </a:r>
            <a:r>
              <a:rPr lang="en-US" altLang="zh-TW" dirty="0"/>
              <a:t>6</a:t>
            </a:r>
            <a:r>
              <a:rPr lang="zh-TW" altLang="en-US" dirty="0"/>
              <a:t>：</a:t>
            </a:r>
            <a:r>
              <a:rPr lang="en-US" altLang="zh-TW" dirty="0"/>
              <a:t>Stage</a:t>
            </a:r>
            <a:r>
              <a:rPr lang="zh-TW" altLang="en-US" dirty="0"/>
              <a:t>並檢查</a:t>
            </a:r>
            <a:r>
              <a:rPr lang="en-US" altLang="zh-TW" dirty="0"/>
              <a:t>Files</a:t>
            </a:r>
            <a:r>
              <a:rPr lang="zh-TW" altLang="en-US" dirty="0"/>
              <a:t>變動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驗收方式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【雲端整合】 P.12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認識 GitHub：全球最大的開源與程式託管平台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GitHub 的重要性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雲端雙重備份：電腦硬碟損壞也能隨時還原程式碼。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跨國團隊協作中心：異地協作與代碼審查標準平台。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工程師履歷：綠色格子貢獻圖是軟體開發者的實力展現。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五大核心概念名詞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Repository (Repo)：專案儲存庫。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Remote：遠端伺服器主機。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Origin：遠端主機的預設暱稱。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Push：將本地快照推送至雲端。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Pull：將雲端最新成果拉回本機。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【雲端建置】 P.13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在 GitHub 上建立全新遠端儲存庫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建立步驟指引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1：登入 https://github.com。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2：點選右上角「+」-&gt; </a:t>
            </a:r>
            <a:r>
              <a:rPr dirty="0" err="1"/>
              <a:t>選擇「New</a:t>
            </a:r>
            <a:r>
              <a:rPr dirty="0"/>
              <a:t> repository」。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3：輸入專案名稱（例如：bootstrap-form-demo）。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4：設定為 </a:t>
            </a:r>
            <a:r>
              <a:rPr dirty="0" err="1"/>
              <a:t>Public（公開</a:t>
            </a:r>
            <a:r>
              <a:rPr dirty="0"/>
              <a:t>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5：下方的 README、.</a:t>
            </a:r>
            <a:r>
              <a:rPr dirty="0" err="1"/>
              <a:t>gitignore</a:t>
            </a:r>
            <a:r>
              <a:rPr dirty="0"/>
              <a:t> </a:t>
            </a:r>
            <a:r>
              <a:rPr dirty="0" err="1"/>
              <a:t>全部「不要打勾</a:t>
            </a:r>
            <a:r>
              <a:rPr dirty="0"/>
              <a:t>」，</a:t>
            </a:r>
            <a:r>
              <a:rPr dirty="0" err="1"/>
              <a:t>點建立</a:t>
            </a:r>
            <a:r>
              <a:rPr dirty="0"/>
              <a:t>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為什麼千萬不要勾選 README？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若勾選了，GitHub 會在雲端預先建立一個 commit，導致本地與雲端歷史分歧！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初學者容易遭遇 push rejected 衝突，保持全空最乾淨。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【遠端推送】 P.14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解讀 GitHub 推送的三行神仙指令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三行指令拆解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第 1 行：git branch -M main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• 將本地主幹分支正式更名為 main（目前業界標準）。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第 2 行：git remote add origin https://github.com/帳號/專案.git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• 綁定雲端地址並命名為 origin。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第 3 行：git push -u origin main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• 將 main 分支推上 origin 並建立追蹤關係！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白話總結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「正名主幹、登記雲端地址、一口氣全部送上去！」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【實作步驟】 P.15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【操作步驟】動手將代碼推上 GitHub 雲端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實作引導步驟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1：複製 GitHub </a:t>
            </a:r>
            <a:r>
              <a:rPr dirty="0" err="1"/>
              <a:t>畫面上的第二段三行指令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2：貼到終端機中並按下 Enter </a:t>
            </a:r>
            <a:r>
              <a:rPr dirty="0" err="1"/>
              <a:t>執行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3：瀏覽器彈出授權時點擊同意授權（Sign in）。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4：重新整理 GitHub </a:t>
            </a:r>
            <a:r>
              <a:rPr dirty="0" err="1"/>
              <a:t>網頁</a:t>
            </a:r>
            <a:r>
              <a:rPr dirty="0"/>
              <a:t>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令人振奮的成果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你的 index.html 與所有代碼漂亮出現在 GitHub 雲端！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全世界任何人透過此網址都能瀏覽你的專案成果！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【分支策略】 P.16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為什麼團隊合作絕不能大家都推到 main？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4765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直接推 main 的災難後果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同事 A 寫到一半未測完的程式推上去，線上網站直接 Crash 白屏！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同事 B 的新修改直接覆蓋掉同事 C 剛寫好的功能。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老闆在客戶面前演示，系統完全當機。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平行宇宙分支哲學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main 永遠是穩定、隨時能上線部署的正式版。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要開發新功能，必須切出「獨立分支」在旁邊施工。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分支改爛隨時能丟棄，主線絲毫不受影響！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【觀念釐清】 P.17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分支比喻：一份珍貴的合約正本與草稿紙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合約正本（main）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鎖在保險箱的正式合約，嚴禁拿鉛筆在上面亂畫草稿。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只有當所有條款經法務確認無誤後，才正式蓋章生效。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影印草稿紙（feature 分支）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拿去影印機印一張複本，愛怎麼塗鴉測試都行。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就算弄髒揉爛直接扔垃圾桶，正本完好如初！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分支命名規範：feature/add-memo、feature/dark-mode。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【分支操作】 P.18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分支核心操作指令集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現代推薦指令（新版語法）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檢視分支清單：git branch（有 * 號為當前所在）。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建立並立刻切換至新分支：git switch -c feature/add-memo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切換回主幹分支：git switch main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刪除已合併分支：git branch -d feature/add-memo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舊指令對照（看懂網路教學）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舊版指令：git checkout -b 分支名（等同於 switch -c）。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舊版切換：git checkout main（等同於 switch main）。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【範例解說】 P.19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【實例解說】在分支開發新功能並提交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操作流程解說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1. git switch -c feature/memo-input </a:t>
            </a:r>
            <a:r>
              <a:rPr dirty="0" err="1"/>
              <a:t>切出分支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2. </a:t>
            </a:r>
            <a:r>
              <a:rPr dirty="0" err="1"/>
              <a:t>於表單底部新增意見備註</a:t>
            </a:r>
            <a:r>
              <a:rPr dirty="0"/>
              <a:t> &lt;</a:t>
            </a:r>
            <a:r>
              <a:rPr dirty="0" err="1"/>
              <a:t>textarea</a:t>
            </a:r>
            <a:r>
              <a:rPr dirty="0"/>
              <a:t>&gt; </a:t>
            </a:r>
            <a:r>
              <a:rPr dirty="0" err="1"/>
              <a:t>欄位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3. </a:t>
            </a:r>
            <a:r>
              <a:rPr dirty="0" err="1"/>
              <a:t>執行</a:t>
            </a:r>
            <a:r>
              <a:rPr dirty="0"/>
              <a:t> git add . 與 git commit -m "feat: </a:t>
            </a:r>
            <a:r>
              <a:rPr dirty="0" err="1"/>
              <a:t>新增意見備註欄位</a:t>
            </a:r>
            <a:r>
              <a:rPr dirty="0"/>
              <a:t>"。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4. </a:t>
            </a:r>
            <a:r>
              <a:rPr dirty="0" err="1"/>
              <a:t>神奇實驗：執行</a:t>
            </a:r>
            <a:r>
              <a:rPr dirty="0"/>
              <a:t> git switch main！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見證時空切換奇蹟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剛剛寫的</a:t>
            </a:r>
            <a:r>
              <a:rPr dirty="0"/>
              <a:t> </a:t>
            </a:r>
            <a:r>
              <a:rPr dirty="0" err="1"/>
              <a:t>textarea</a:t>
            </a:r>
            <a:r>
              <a:rPr dirty="0"/>
              <a:t> </a:t>
            </a:r>
            <a:r>
              <a:rPr dirty="0" err="1"/>
              <a:t>欄位裡瞬間隱形消失</a:t>
            </a:r>
            <a:r>
              <a:rPr dirty="0"/>
              <a:t>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再次切回分支，欄位又瞬間回來，完美實現代碼平行隔離</a:t>
            </a:r>
            <a:r>
              <a:rPr dirty="0"/>
              <a:t>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【實作步驟】 P.20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【操作步驟】將功能分支推上 GitHub 遠端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實作引導步驟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1：執行 git switch -c feature/add-memo。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2：在 HTML 加入備註欄位並存檔。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3：執行 git add . 與 commit 存檔。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4：執行 git push -u origin feature/add-memo 將分支送上雲端！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觀察 GitHub 反饋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GitHub 首頁會立刻跳出淡黃色橫幅：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feature/add-memo had recent pushes 附帶 [Compare &amp; pull request] 綠色按鈕！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5C1EAB-1CAD-45EB-E30F-2F7BBDDCEE01}"/>
              </a:ext>
            </a:extLst>
          </p:cNvPr>
          <p:cNvSpPr txBox="1"/>
          <p:nvPr/>
        </p:nvSpPr>
        <p:spPr>
          <a:xfrm>
            <a:off x="1434352" y="724997"/>
            <a:ext cx="952051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hlinkClick r:id="rId2"/>
              </a:rPr>
              <a:t>https://github.com/jc670717/webdesign</a:t>
            </a:r>
            <a:endParaRPr lang="en-US" altLang="zh-TW" sz="4000" dirty="0"/>
          </a:p>
          <a:p>
            <a:endParaRPr lang="en-US" altLang="zh-TW" sz="4000" dirty="0"/>
          </a:p>
          <a:p>
            <a:endParaRPr lang="en-US" altLang="zh-TW" sz="4000" dirty="0"/>
          </a:p>
          <a:p>
            <a:endParaRPr lang="en-US" altLang="zh-TW" sz="4000" dirty="0"/>
          </a:p>
          <a:p>
            <a:r>
              <a:rPr lang="en-US" altLang="zh-TW" sz="4000" dirty="0">
                <a:hlinkClick r:id="rId3"/>
              </a:rPr>
              <a:t>https://webdesign-liard.vercel.app/</a:t>
            </a:r>
            <a:endParaRPr lang="en-US" altLang="zh-TW" sz="4000" dirty="0"/>
          </a:p>
          <a:p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316227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【團隊協作】 P.21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什麼是 Pull Request (PR)？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字面含義與生活化解釋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字面翻譯：請求對方把我的代碼「拉進去（Pull）」。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大白話：「隊長！新功能在分支寫好了，請檢查我的代碼，沒問題請合併進 main 主線！」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PR 的核心價值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同儕審查（Code Review）：資深工程師協助把關品質。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防範災難：防止未經驗證的半成品污染正式產品。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團隊討論：直接在代碼旁邊留言交流技術細節。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【實作步驟】 P.22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【操作步驟】動手在 GitHub 發起一張標準 PR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實作引導步驟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1：點擊 GitHub 黃色橫幅的「Compare &amp; pull request」按鈕。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2：確認方向：base: main ← compare: feature/add-memo。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3：填寫清楚標題（例如：feat: 增加意見備註欄位）。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4：撰寫變更說明與測試清單，點擊 Create pull request！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標準 PR 內容範本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## 變更項目：新增備註多行文字輸入框。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## 測試確認：[x] RWD 排版正常、[x] 表單驗證可順利送出。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【代碼審查】 P.23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體驗 Code Review：檢視差異與行內留言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看懂 Files Changed 顏色密碼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點擊 PR 頂部的「Files changed」分頁標籤。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綠色區塊 (+)：本次分支新增加的程式碼行數。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紅色區塊 (-)：本次分支刪除或修改掉的程式碼行數。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直觀檢視本次所有異動細節！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行內留言討論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游標移至代碼旁點擊「+」號，即可留下建議（例如：「建議加上 rows="3" 增加高度」）。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【實作步驟】 P.24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【操作步驟】正式 Merge 合併 PR 並刪除分支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實作引導步驟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1：審查完畢後，點擊綠色「Merge pull request」按鈕。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2：點擊「Confirm merge」確認合併。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3：PR 標籤變成紫色的 Merged 狀態！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4：點擊旁邊出現的「Delete branch」將雲端分支刪除，保持儲存庫乾淨清爽。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雲端 main 順利升級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回到 GitHub 專案首頁，main 分支已正式納入備註功能！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【本機同步】 P.25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千萬別忘記：把雲端成果 pull 回本機電腦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14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常見困惑排查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初學者常問</a:t>
            </a:r>
            <a:r>
              <a:rPr dirty="0"/>
              <a:t>：「</a:t>
            </a:r>
            <a:r>
              <a:rPr dirty="0" err="1"/>
              <a:t>老師，GitHub</a:t>
            </a:r>
            <a:r>
              <a:rPr dirty="0"/>
              <a:t> </a:t>
            </a:r>
            <a:r>
              <a:rPr dirty="0" err="1"/>
              <a:t>上已經合併了，為什麼回到</a:t>
            </a:r>
            <a:r>
              <a:rPr dirty="0"/>
              <a:t> </a:t>
            </a:r>
            <a:r>
              <a:rPr lang="en-US" dirty="0"/>
              <a:t>Local </a:t>
            </a:r>
            <a:r>
              <a:rPr dirty="0"/>
              <a:t>的 main </a:t>
            </a:r>
            <a:r>
              <a:rPr dirty="0" err="1"/>
              <a:t>看還是舊的</a:t>
            </a:r>
            <a:r>
              <a:rPr dirty="0"/>
              <a:t>？」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解答：因為剛剛的合併發生在</a:t>
            </a:r>
            <a:r>
              <a:rPr dirty="0"/>
              <a:t> GitHub </a:t>
            </a:r>
            <a:r>
              <a:rPr dirty="0" err="1"/>
              <a:t>雲端伺服器！本機</a:t>
            </a:r>
            <a:r>
              <a:rPr dirty="0"/>
              <a:t> main </a:t>
            </a:r>
            <a:r>
              <a:rPr dirty="0" err="1"/>
              <a:t>必須手動拉取同步</a:t>
            </a:r>
            <a:r>
              <a:rPr dirty="0"/>
              <a:t>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兩行同步黃金指令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指令</a:t>
            </a:r>
            <a:r>
              <a:rPr dirty="0"/>
              <a:t> 1：git switch </a:t>
            </a:r>
            <a:r>
              <a:rPr dirty="0" err="1"/>
              <a:t>main（切回本機主線</a:t>
            </a:r>
            <a:r>
              <a:rPr dirty="0"/>
              <a:t>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指令</a:t>
            </a:r>
            <a:r>
              <a:rPr dirty="0"/>
              <a:t> 2：git </a:t>
            </a:r>
            <a:r>
              <a:rPr dirty="0" err="1"/>
              <a:t>pull（把雲端最新成果拉回來</a:t>
            </a:r>
            <a:r>
              <a:rPr dirty="0"/>
              <a:t>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執行後瞬間更新，本機與雲端重回同步</a:t>
            </a:r>
            <a:r>
              <a:rPr dirty="0"/>
              <a:t>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【衝突排除】 P.26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協作最大心魔：什麼是版本衝突（Conflict）？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衝突發生的唯一原因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同一個檔案的同一個位置（同一行或相鄰行），被兩個人改寫成不同內容！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Git 不敢擅自替工程師決定該留誰的寫法，因此暫停合併流程，交由人工裁決。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健康的工程師心理素質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衝突不是系統當機，更不是致命錯誤！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衝突是多人協作中必定會遇到的家常便飯，冷靜排除即可！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【衝突解析】 P.27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看懂 Git 衝突標記符號（Conflict Markers）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衝突標記剖析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&lt;&lt;&lt;&lt;&lt;&lt;&lt; HEAD：你本機目前分支的寫法。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=======：兩者分界線。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&gt;&gt;&gt;&gt;&gt;&gt;&gt; feature/btn-color：準備合併進來的分支寫法。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任務核心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決定兩段代碼保留哪一段，並將這些標記符號徹底刪除乾淨！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1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rPr dirty="0"/>
              <a:t>【</a:t>
            </a:r>
            <a:r>
              <a:rPr dirty="0" err="1"/>
              <a:t>實作步驟</a:t>
            </a:r>
            <a:r>
              <a:rPr dirty="0"/>
              <a:t>】 P.28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【</a:t>
            </a:r>
            <a:r>
              <a:rPr dirty="0" err="1"/>
              <a:t>操作步驟】化解衝突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rPr dirty="0" err="1"/>
              <a:t>一鍵化解四按鈕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1. Accept Current </a:t>
            </a:r>
            <a:r>
              <a:rPr dirty="0" err="1"/>
              <a:t>Change：只保留我原本的代碼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2. Accept Incoming </a:t>
            </a:r>
            <a:r>
              <a:rPr dirty="0" err="1"/>
              <a:t>Change：只採用對方傳來的代碼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3. Accept Both </a:t>
            </a:r>
            <a:r>
              <a:rPr dirty="0" err="1"/>
              <a:t>Changes：兩人的改動全部保留</a:t>
            </a:r>
            <a:r>
              <a:rPr dirty="0"/>
              <a:t>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排除衝突後的收尾 SOP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1. 點擊合適按鈕（標記自動消失）。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2. 存檔（Ctrl + S）。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3. 執行 git add 衝突檔案。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4. 執行 git commit -m "fix: 解決按鈕文字衝突" 完成合併！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【實戰演練】 P.29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課堂雙人協作演練：成為對方的協作者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分組任務分配（A 同學與 B 同學）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1：A 同學將 B 同學加入 GitHub Repo 的 Collaborators。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2：B 同學接受邀請，執行 git clone 將專案載入自己電腦。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3：B 同學切出 feature/footer 分支加上頁尾並推上遠端提 PR。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4：A 同學在 GitHub 線上 Review 並按下 Merge 合併！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驗收成果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專案成功整合兩位學員的智慧，體驗真正軟體公司的敏捷協作！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</a:defRPr>
            </a:pPr>
            <a:r>
              <a:t>【全日總結】 P.30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全日總結與工程師每日協作 SOP 懶人包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每日上班協作 SOP 六部曲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1. git switch main -&gt; git pull（開工先拉最新進度）。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2. git switch -c feature/my-work（開獨立分支寫功能）。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3. 專心開發，運用 Bootstrap 快速佈局與防呆。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4. git add . -&gt; git commit -m "feat: ..." 存檔。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5. git push -u origin feature/my-work 推上雲端。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6. 上 GitHub 開 PR，請隊友審查並 Merge！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講師勉勵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從前端 Bootstrap 響應式互動，到 Git + GitHub 團隊協作，大家今天已經跑通了現代前端工程師的核心日常！多推幾次 PR 就會成為本能，大家辛苦了！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2498</Words>
  <Application>Microsoft Macintosh PowerPoint</Application>
  <PresentationFormat>Widescreen</PresentationFormat>
  <Paragraphs>365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Google Sans Text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 Chang</cp:lastModifiedBy>
  <cp:revision>16</cp:revision>
  <dcterms:created xsi:type="dcterms:W3CDTF">2013-01-27T09:14:16Z</dcterms:created>
  <dcterms:modified xsi:type="dcterms:W3CDTF">2026-09-05T08:08:18Z</dcterms:modified>
  <cp:category/>
</cp:coreProperties>
</file>