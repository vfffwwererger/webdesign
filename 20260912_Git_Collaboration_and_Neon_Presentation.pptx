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96" y="8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  <a:latin typeface="Liberation Sans"/>
              </a:defRPr>
            </a:pPr>
            <a:r>
              <a:t>GIT 團隊協作、NEON 資料庫整合與成果發表</a:t>
            </a:r>
          </a:p>
          <a:p>
            <a:pPr>
              <a:spcAft>
                <a:spcPts val="2000"/>
              </a:spcAft>
              <a:defRPr sz="1800">
                <a:solidFill>
                  <a:srgbClr val="10B981"/>
                </a:solidFill>
                <a:latin typeface="Liberation Sans"/>
              </a:defRPr>
            </a:pPr>
            <a:r>
              <a:t>從分支 PR 協作、單機 Vite 測試到 Neon 雲端 Postgres 資料庫與 Vercel 全球部署</a:t>
            </a:r>
          </a:p>
          <a:p>
            <a:pPr>
              <a:defRPr sz="1400">
                <a:solidFill>
                  <a:srgbClr val="94A3B8"/>
                </a:solidFill>
                <a:latin typeface="Liberation Sans"/>
              </a:defRPr>
            </a:pPr>
            <a:r>
              <a:t>網頁設計 AI 輔助應用實務班 — 下午實務工作坊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Liberation Sans"/>
              </a:defRPr>
            </a:pPr>
            <a:r>
              <a:t>AGENDA</a:t>
            </a:r>
          </a:p>
          <a:p>
            <a:pPr>
              <a:defRPr sz="2400" b="1">
                <a:solidFill>
                  <a:srgbClr val="0F172A"/>
                </a:solidFill>
                <a:latin typeface="Liberation Sans"/>
              </a:defRPr>
            </a:pPr>
            <a:r>
              <a:t>下午課程地圖：團隊工程化與公開發表 4 大階段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一、Git 團隊協作與分支 (60m)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• Branch 分支建立與切換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• 單機 Vite 測試與把關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• GitHub PR 發布與同儕 Code Review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• Merge PR 與本地同步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46304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二、Neon 雲端資料庫 (45m)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• Serverless Postgres 觀念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• 建立 Project 與 Connection String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• 環境變數 .env 安全設定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• React 存取真實雲端資料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三、Vercel 部署與 CI/CD (30m)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• 綁定 GitHub Main 分支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• Vercel 後台注入 Neon 環境變數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• Push 自動觸發全球更新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• 行動裝置 QR Code 測試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四、成果發表與評審 (45m)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• 6 大可交付成果物檢查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• 每組 6 分鐘 Live Demo 展示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• 評委四大指標評分與回饋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• 課程里程碑與總結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Liberation Sans"/>
              </a:defRPr>
            </a:pPr>
            <a:r>
              <a:t>GIT RECAP</a:t>
            </a:r>
          </a:p>
          <a:p>
            <a:pPr>
              <a:defRPr sz="2400" b="1">
                <a:solidFill>
                  <a:srgbClr val="0F172A"/>
                </a:solidFill>
                <a:latin typeface="Liberation Sans"/>
              </a:defRPr>
            </a:pPr>
            <a:r>
              <a:t>單機 Git 快速複習：3 分鐘掌握四大基本指令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1. git init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建立本地 Git 倉庫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將當前資料夾納入版本控制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64592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2. git status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檢查工作區檔案狀態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查看哪些檔案被修改或未追蹤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3. git add 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將變更檔案送入暫存區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準備進行版本快照打包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64592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4. git commit -m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寫入版本庫歷史紀錄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註明清晰的 Commit 訊息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Liberation Sans"/>
              </a:defRPr>
            </a:pPr>
            <a:r>
              <a:t>TEAMWORK</a:t>
            </a:r>
          </a:p>
          <a:p>
            <a:pPr>
              <a:defRPr sz="2400" b="1">
                <a:solidFill>
                  <a:srgbClr val="0F172A"/>
                </a:solidFill>
                <a:latin typeface="Liberation Sans"/>
              </a:defRPr>
            </a:pPr>
            <a:r>
              <a:t>團隊協作核心：Main 保護機制與 Feature Branch 策略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❌ 為什麼不能所有人直推 Main？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多人同時推 Main 極易造成 Code Conflict 衝突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尚未測試完成的 Debug 代碼會破壞線上正常功能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無法進行 Code Review，品質難以把關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專案歷史紀錄混亂，出了問題無法追蹤誰修改了什麼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59669"/>
                </a:solidFill>
                <a:latin typeface="Liberation Sans"/>
              </a:defRPr>
            </a:pPr>
            <a:r>
              <a:t>✅ 現代團隊標準分支協作規範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Main 分支：受保護的 Production 穩定正式版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Feature 分支：每位成員為獨立功能建立分支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隔離開發：自己在獨立分支測試，完全不影響他人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Pull Request (PR)：經由同儕審查後才能合併進 Main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Liberation Sans"/>
              </a:defRPr>
            </a:pPr>
            <a:r>
              <a:t>GIT BRANCH</a:t>
            </a:r>
          </a:p>
          <a:p>
            <a:pPr>
              <a:defRPr sz="2400" b="1">
                <a:solidFill>
                  <a:srgbClr val="0F172A"/>
                </a:solidFill>
                <a:latin typeface="Liberation Sans"/>
              </a:defRPr>
            </a:pPr>
            <a:r>
              <a:t>建立獨立功能分支：`git checkout -b` 實務操作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分支命名規範與關鍵指令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建立並切換新分支：git checkout -b feature/ferry-search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查看當前所有分支：git branch （前面有 * 號者為當前分支）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切換回已有分支：git checkout main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💡 語意化分支命名建議：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  • 功能開發：feature/login, feature/ferry-cards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  • 障礙排除：fix/rwd-overflow, fix/button-click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  • 樣式調整：style/hero-banner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Liberation Sans"/>
              </a:defRPr>
            </a:pPr>
            <a:r>
              <a:t>LOCAL TESTING</a:t>
            </a:r>
          </a:p>
          <a:p>
            <a:pPr>
              <a:defRPr sz="2400" b="1">
                <a:solidFill>
                  <a:srgbClr val="0F172A"/>
                </a:solidFill>
                <a:latin typeface="Liberation Sans"/>
              </a:defRPr>
            </a:pPr>
            <a:r>
              <a:t>單機 Vite 測試：在 Commit 與 Push 前完成本機驗證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1. npm run dev 啟動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在本地 http://localhost:5173 預覽畫面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確認新開發的 Component 能正常渲染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2. Console 零錯誤檢查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按下 F12 開啟 Console 面板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確保沒有紅字 Uncaught Error 或 Warning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8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3. 375px RWD 行動版測試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切換 DevTools 為 iPhone 畫面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確認按鈕、卡片與文字無橫向捲軸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Liberation Sans"/>
              </a:defRPr>
            </a:pPr>
            <a:r>
              <a:t>PUSH BRANCH</a:t>
            </a:r>
          </a:p>
          <a:p>
            <a:pPr>
              <a:defRPr sz="2400" b="1">
                <a:solidFill>
                  <a:srgbClr val="0F172A"/>
                </a:solidFill>
                <a:latin typeface="Liberation Sans"/>
              </a:defRPr>
            </a:pPr>
            <a:r>
              <a:t>推送分支至 GitHub：`git push origin &lt;branch-name&gt;`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推送分支 3 步驟與注意事項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Step 1: 確認本地變更已完成 Commit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        git commit -m "feat: add ferry search bar and category filter"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Step 2: 將新分支推送到遠端 GitHub 倉庫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        git push -u origin feature/ferry-search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Step 3: 進入 GitHub 專案頁面，會看到黃色提示區「Compare &amp; pull request」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⚠️ 注意事項：永遠不要強制推送 (git push -f)，以免覆蓋組員代碼！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Liberation Sans"/>
              </a:defRPr>
            </a:pPr>
            <a:r>
              <a:t>PULL REQUEST</a:t>
            </a:r>
          </a:p>
          <a:p>
            <a:pPr>
              <a:defRPr sz="2400" b="1">
                <a:solidFill>
                  <a:srgbClr val="0F172A"/>
                </a:solidFill>
                <a:latin typeface="Liberation Sans"/>
              </a:defRPr>
            </a:pPr>
            <a:r>
              <a:t>發布 Pull Request (PR)：撰寫規格並請求團隊審查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一個高品質 PR 應包含的 4 大要素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1. 簡潔標題：[Feat] 新增客船搜尋欄與類別篩選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2. 改動說明：說明新增了哪些組件、修正了什麼問題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3. 測試證明：附上單機 Vite 測試成功的畫面截圖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4. 指定 Reviewer：在右側 Assignees 指派同組組員進行審查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2563EB"/>
                </a:solidFill>
                <a:latin typeface="Liberation Sans"/>
              </a:defRPr>
            </a:pPr>
            <a:r>
              <a:t>PR 審查對團隊的價值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知識共享：組員能透過 PR 了解他人撰寫的 Code 邏輯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及早發現 Bug：多雙眼睛檢查，降低線上破版風險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符合規格：對照「任務卡」驗收條件進行 Pass/Fail 確認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Liberation Sans"/>
              </a:defRPr>
            </a:pPr>
            <a:r>
              <a:t>CODE REVIEW</a:t>
            </a:r>
          </a:p>
          <a:p>
            <a:pPr>
              <a:defRPr sz="2400" b="1">
                <a:solidFill>
                  <a:srgbClr val="0F172A"/>
                </a:solidFill>
                <a:latin typeface="Liberation Sans"/>
              </a:defRPr>
            </a:pPr>
            <a:r>
              <a:t>PR Code Review 與 Vercel Preview 自動預覽驗收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Code Review 審查者重點清單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• 是否符合 Component 拆解與模組化規範？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• 變數命名是否清晰（如 ferryList vs data1）？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• 是否有硬編碼 (Hardcode) 敏感資料或金鑰？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• 手機版 375px 排版是否正常？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7C3AED"/>
                </a:solidFill>
                <a:latin typeface="Liberation Sans"/>
              </a:defRPr>
            </a:pPr>
            <a:r>
              <a:t>🚀 Vercel Preview Deploy 神器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當發布 PR 時，Vercel 會自動為該 PR 產生獨立測試網址！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審查者不需拉下代碼，直接點擊 Vercel Preview 網址即可線上測試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確認無誤後在 GitHub 點擊「Approve」許可合併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Liberation Sans"/>
              </a:defRPr>
            </a:pPr>
            <a:r>
              <a:t>MERGE &amp; SYNC</a:t>
            </a:r>
          </a:p>
          <a:p>
            <a:pPr>
              <a:defRPr sz="2400" b="1">
                <a:solidFill>
                  <a:srgbClr val="0F172A"/>
                </a:solidFill>
                <a:latin typeface="Liberation Sans"/>
              </a:defRPr>
            </a:pPr>
            <a:r>
              <a:t>合併 PR 與本地同步：`git checkout main` &amp; `git pull`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合併後的 4 步同步標準流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Step 1: 在 GitHub 頁面點擊「Merge Pull Request」完成遠端合併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Step 2: 切換回本地 Main 分支：git checkout main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Step 3: 拉取遠端最新已被合併的代碼：git pull origin main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Step 4: 清理已合併的舊分支：git branch -d feature/ferry-search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✨ 成果：本地 Main 與 GitHub Main 完全保持同步，隨時準備開發下一個功能！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Liberation Sans"/>
              </a:defRPr>
            </a:pPr>
            <a: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Liberation Sans"/>
              </a:defRPr>
            </a:pPr>
            <a:r>
              <a:t>現代全端開發架構：為什麼選擇 Neon + Vercel？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59669"/>
                </a:solidFill>
                <a:latin typeface="Liberation Sans"/>
              </a:defRPr>
            </a:pPr>
            <a:r>
              <a:t>🗄️ Neon Serverless DB</a:t>
            </a:r>
          </a:p>
          <a:p>
            <a:pPr>
              <a:defRPr sz="1400" b="1">
                <a:solidFill>
                  <a:srgbClr val="0F172A"/>
                </a:solidFill>
                <a:latin typeface="Liberation Sans"/>
              </a:defRPr>
            </a:pPr>
            <a:r>
              <a:t>• 原生 PostgreSQL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  <a:latin typeface="Liberation Sans"/>
              </a:defRPr>
            </a:pPr>
            <a:r>
              <a:t>   完整支援標準 SQL 語法、資料型別與關聯式索引。</a:t>
            </a:r>
          </a:p>
          <a:p>
            <a:pPr>
              <a:defRPr sz="1400" b="1">
                <a:solidFill>
                  <a:srgbClr val="0F172A"/>
                </a:solidFill>
                <a:latin typeface="Liberation Sans"/>
              </a:defRPr>
            </a:pPr>
            <a:r>
              <a:t>• Serverless 自動縮放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  <a:latin typeface="Liberation Sans"/>
              </a:defRPr>
            </a:pPr>
            <a:r>
              <a:t>   免費提供 0.5 GiB 儲存空間，無流量自動進入休眠。</a:t>
            </a:r>
          </a:p>
          <a:p>
            <a:pPr>
              <a:defRPr sz="1400" b="1">
                <a:solidFill>
                  <a:srgbClr val="0F172A"/>
                </a:solidFill>
                <a:latin typeface="Liberation Sans"/>
              </a:defRPr>
            </a:pPr>
            <a:r>
              <a:t>• Pooled Connection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  <a:latin typeface="Liberation Sans"/>
              </a:defRPr>
            </a:pPr>
            <a:r>
              <a:t>   針對無伺服器/前端環境提供高效能 Connection Pool。</a:t>
            </a:r>
          </a:p>
          <a:p>
            <a:pPr>
              <a:defRPr sz="1400" b="1">
                <a:solidFill>
                  <a:srgbClr val="0F172A"/>
                </a:solidFill>
                <a:latin typeface="Liberation Sans"/>
              </a:defRPr>
            </a:pPr>
            <a:r>
              <a:t>• 雲端控制台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  <a:latin typeface="Liberation Sans"/>
              </a:defRPr>
            </a:pPr>
            <a:r>
              <a:t>   內建 SQL Editor，可直接在線上管理 Table 與資料。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8576" y="173736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D97706"/>
                </a:solidFill>
                <a:latin typeface="Liberation Sans"/>
              </a:defRPr>
            </a:pPr>
            <a:r>
              <a:t>🔐 安全橋樑 (Env Vars)</a:t>
            </a:r>
          </a:p>
          <a:p>
            <a:pPr>
              <a:defRPr sz="1400" b="1">
                <a:solidFill>
                  <a:srgbClr val="0F172A"/>
                </a:solidFill>
                <a:latin typeface="Liberation Sans"/>
              </a:defRPr>
            </a:pPr>
            <a:r>
              <a:t>• 零密碼外洩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  <a:latin typeface="Liberation Sans"/>
              </a:defRPr>
            </a:pPr>
            <a:r>
              <a:t>   資料庫密碼絕不上傳至 GitHub 等公開程式碼庫。</a:t>
            </a:r>
          </a:p>
          <a:p>
            <a:pPr>
              <a:defRPr sz="1400" b="1">
                <a:solidFill>
                  <a:srgbClr val="0F172A"/>
                </a:solidFill>
                <a:latin typeface="Liberation Sans"/>
              </a:defRPr>
            </a:pPr>
            <a:r>
              <a:t>• 環境隔離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  <a:latin typeface="Liberation Sans"/>
              </a:defRPr>
            </a:pPr>
            <a:r>
              <a:t>   本機開發使用 .env.local，生產網址使用 Vercel Env。</a:t>
            </a:r>
          </a:p>
          <a:p>
            <a:pPr>
              <a:defRPr sz="1400" b="1">
                <a:solidFill>
                  <a:srgbClr val="0F172A"/>
                </a:solidFill>
                <a:latin typeface="Liberation Sans"/>
              </a:defRPr>
            </a:pPr>
            <a:r>
              <a:t>• Vite 前端規範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  <a:latin typeface="Liberation Sans"/>
              </a:defRPr>
            </a:pPr>
            <a:r>
              <a:t>   變數需加上 VITE_ 前綴，確保安全匯入前端代碼。</a:t>
            </a:r>
          </a:p>
          <a:p>
            <a:pPr>
              <a:defRPr sz="1400" b="1">
                <a:solidFill>
                  <a:srgbClr val="0F172A"/>
                </a:solidFill>
                <a:latin typeface="Liberation Sans"/>
              </a:defRPr>
            </a:pPr>
            <a:r>
              <a:t>• 連線加密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  <a:latin typeface="Liberation Sans"/>
              </a:defRPr>
            </a:pPr>
            <a:r>
              <a:t>   採用 SSL (sslmode=require) 確保傳輸安全。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2" y="173736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284C7"/>
                </a:solidFill>
                <a:latin typeface="Liberation Sans"/>
              </a:defRPr>
            </a:pPr>
            <a:r>
              <a:t>🚀 Vercel 雲端平台</a:t>
            </a:r>
          </a:p>
          <a:p>
            <a:pPr>
              <a:defRPr sz="1400" b="1">
                <a:solidFill>
                  <a:srgbClr val="0F172A"/>
                </a:solidFill>
                <a:latin typeface="Liberation Sans"/>
              </a:defRPr>
            </a:pPr>
            <a:r>
              <a:t>• GitHub 自動同步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  <a:latin typeface="Liberation Sans"/>
              </a:defRPr>
            </a:pPr>
            <a:r>
              <a:t>   綁定 GitHub Main 分支，git push 即觸發 Deploy。</a:t>
            </a:r>
          </a:p>
          <a:p>
            <a:pPr>
              <a:defRPr sz="1400" b="1">
                <a:solidFill>
                  <a:srgbClr val="0F172A"/>
                </a:solidFill>
                <a:latin typeface="Liberation Sans"/>
              </a:defRPr>
            </a:pPr>
            <a:r>
              <a:t>• 全球 Edge 部署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  <a:latin typeface="Liberation Sans"/>
              </a:defRPr>
            </a:pPr>
            <a:r>
              <a:t>   自動生成免費 HTTPS 網址與全球 CDN 加快載入。</a:t>
            </a:r>
          </a:p>
          <a:p>
            <a:pPr>
              <a:defRPr sz="1400" b="1">
                <a:solidFill>
                  <a:srgbClr val="0F172A"/>
                </a:solidFill>
                <a:latin typeface="Liberation Sans"/>
              </a:defRPr>
            </a:pPr>
            <a:r>
              <a:t>• 原生支援 React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  <a:latin typeface="Liberation Sans"/>
              </a:defRPr>
            </a:pPr>
            <a:r>
              <a:t>   自動偵測 Vite / React 設定，免手動配置 Web Server。</a:t>
            </a:r>
          </a:p>
          <a:p>
            <a:pPr>
              <a:defRPr sz="1400" b="1">
                <a:solidFill>
                  <a:srgbClr val="0F172A"/>
                </a:solidFill>
                <a:latin typeface="Liberation Sans"/>
              </a:defRPr>
            </a:pPr>
            <a:r>
              <a:t>• 預覽分支 (Preview)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  <a:latin typeface="Liberation Sans"/>
              </a:defRPr>
            </a:pPr>
            <a:r>
              <a:t>   PR 自動生成獨立測試網址，適合同儕驗收。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Liberation Sans"/>
              </a:defRPr>
            </a:pPr>
            <a:r>
              <a:t>STEP 1 / DATABASE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Liberation Sans"/>
              </a:defRPr>
            </a:pPr>
            <a:r>
              <a:t>Neon 雲端資料庫建置與連線字串存取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974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59669"/>
                </a:solidFill>
                <a:latin typeface="Liberation Sans"/>
              </a:defRPr>
            </a:pPr>
            <a:r>
              <a:t>1.1 建立 Neon Project 與 Database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Liberation Sans"/>
              </a:defRPr>
            </a:pPr>
            <a:r>
              <a:t>Step 1. 前往 neon.tech 註冊/登入帳號，點擊 「Create Project」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Liberation Sans"/>
              </a:defRPr>
            </a:pPr>
            <a:r>
              <a:t>Step 2. 輸入專案名稱（例：ferry-booking-db），選擇區域（例：Singapore / Tokyo）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Liberation Sans"/>
              </a:defRPr>
            </a:pPr>
            <a:r>
              <a:t>Step 3. 建立完成後，進入 Dashboard 找到 「Connection Details」 區塊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Liberation Sans"/>
              </a:defRPr>
            </a:pPr>
            <a:r>
              <a:t>Step 4. 模式切換為 Pooled connection（確保前端與 Serverless 高效連線）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Liberation Sans"/>
              </a:defRPr>
            </a:pPr>
            <a:r>
              <a:t>Step 5. 點擊 「Copy Connection String」 複製完整的連線網址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554480"/>
            <a:ext cx="5175504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55664" y="1737360"/>
            <a:ext cx="480974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284C7"/>
                </a:solidFill>
                <a:latin typeface="Liberation Sans"/>
              </a:defRPr>
            </a:pPr>
            <a:r>
              <a:t>1.2 連線字串 (Connection String) 結構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55664" y="2194560"/>
            <a:ext cx="4809744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5354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4D399"/>
                </a:solidFill>
                <a:latin typeface="Liberation Mono"/>
              </a:defRPr>
            </a:pPr>
            <a:r>
              <a:t>postgresql://user:password@ep-xxx-xxx.neon.tech/neondb?sslmode=require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749039"/>
            <a:ext cx="480974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Liberation Sans"/>
              </a:defRPr>
            </a:pPr>
            <a:r>
              <a:t>• postgresql:// → 指定 PostgreSQL 通訊協定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Liberation Sans"/>
              </a:defRPr>
            </a:pPr>
            <a:r>
              <a:t>• user : password → 資料庫存取帳號與加密密碼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Liberation Sans"/>
              </a:defRPr>
            </a:pPr>
            <a:r>
              <a:t>• ep-xxx-xxx.neon.tech → Neon 雲端 Serverless Endpoint 主機位址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Liberation Sans"/>
              </a:defRPr>
            </a:pPr>
            <a:r>
              <a:t>• neondb → 預設建立的資料庫名稱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Liberation Sans"/>
              </a:defRPr>
            </a:pPr>
            <a:r>
              <a:t>• ?sslmode=require → 強制啟用 SSL 加密傳輸管道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Liberation Sans"/>
              </a:defRPr>
            </a:pPr>
            <a:r>
              <a:t>STEP 2 / LOCAL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Liberation Sans"/>
              </a:defRPr>
            </a:pPr>
            <a:r>
              <a:t>本地環境變數隔離與 .gitignore 安全防線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974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D97706"/>
                </a:solidFill>
                <a:latin typeface="Liberation Sans"/>
              </a:defRPr>
            </a:pPr>
            <a:r>
              <a:t>2.1 配置本地 .env.local 檔案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Liberation Sans"/>
              </a:defRPr>
            </a:pPr>
            <a:r>
              <a:t>在 React/Vite 專案根目錄建立 .env.local，寫入 Connection String：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60320"/>
            <a:ext cx="4809744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651760"/>
            <a:ext cx="45354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Liberation Mono"/>
              </a:defRPr>
            </a:pPr>
            <a:r>
              <a:t># .env.local</a:t>
            </a:r>
            <a:br/>
            <a:r>
              <a:t># ⚠️ Vite 前端變數必須加 VITE_ 前綴</a:t>
            </a:r>
            <a:br/>
            <a:r>
              <a:t>VITE_NEON_DATABASE_URL=postgresql://user:pass@ep-xxx.neon.tech/neondb?sslmode=require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80974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📌 重要規範：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1. 未加 VITE_ 前綴的變數，Vite 為安全考慮將不會注入前端代碼。</a:t>
            </a:r>
            <a:br/>
            <a:r>
              <a:t>2. 在代碼中以 import.meta.env.VITE_NEON_DATABASE_URL 讀取。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1554480"/>
            <a:ext cx="5175504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55664" y="1737360"/>
            <a:ext cx="480974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DC2626"/>
                </a:solidFill>
                <a:latin typeface="Liberation Sans"/>
              </a:defRPr>
            </a:pPr>
            <a:r>
              <a:t>2.2 設定 .gitignore 防範密碼外洩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Liberation Sans"/>
              </a:defRPr>
            </a:pPr>
            <a:r>
              <a:t>確保 .gitignore 包含所有環境變數檔案，嚴禁 Commit 到 GitHub：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55664" y="2560320"/>
            <a:ext cx="4809744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92824" y="2651760"/>
            <a:ext cx="45354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7171"/>
                </a:solidFill>
                <a:latin typeface="Liberation Mono"/>
              </a:defRPr>
            </a:pPr>
            <a:r>
              <a:t># .gitignore</a:t>
            </a:r>
            <a:br/>
            <a:r>
              <a:t>.env</a:t>
            </a:r>
            <a:br/>
            <a:r>
              <a:t>.env.local</a:t>
            </a:r>
            <a:br/>
            <a:r>
              <a:t>.env.production</a:t>
            </a:r>
            <a:br/>
            <a:r>
              <a:t>node_modules/</a:t>
            </a:r>
            <a:br/>
            <a:r>
              <a:t>dist/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4206240"/>
            <a:ext cx="480974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🚨 若不慎上傳至 GitHub 公開倉庫：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1. 立即登入 Neon 控制台重置資料庫密碼 (Reset Password)。</a:t>
            </a:r>
            <a:br/>
            <a:r>
              <a:t>2. 執行 git rm --cached .env.local 將檔案從 Git 歷史剔除。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Liberation Sans"/>
              </a:defRPr>
            </a:pPr>
            <a:r>
              <a:t>STEP 3 / FRONTEND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Liberation Sans"/>
              </a:defRPr>
            </a:pPr>
            <a:r>
              <a:t>React 專案串接 @neondatabase/serverless SDK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114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59669"/>
                </a:solidFill>
                <a:latin typeface="Liberation Sans"/>
              </a:defRPr>
            </a:pPr>
            <a:r>
              <a:t>3.1 安裝 SDK 與建立 db.js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1. 開啟 Terminal 安裝 SDK：</a:t>
            </a:r>
          </a:p>
          <a:p>
            <a:pPr>
              <a:spcBef>
                <a:spcPts val="5000"/>
              </a:spcBef>
              <a:defRPr sz="1300">
                <a:solidFill>
                  <a:srgbClr val="0F172A"/>
                </a:solidFill>
              </a:defRPr>
            </a:pPr>
            <a:r>
              <a:t>2. 建立 src/db.js 模組：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3749039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4D399"/>
                </a:solidFill>
                <a:latin typeface="Liberation Mono"/>
              </a:defRPr>
            </a:pPr>
            <a:r>
              <a:t>npm install @neondatabase/serverless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383280"/>
            <a:ext cx="3749039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3566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8BDF8"/>
                </a:solidFill>
                <a:latin typeface="Liberation Mono"/>
              </a:defRPr>
            </a:pPr>
            <a:r>
              <a:t>// src/db.js</a:t>
            </a:r>
            <a:br/>
            <a:r>
              <a:t>import { neon } from '@neondatabase/serverless';</a:t>
            </a:r>
            <a:br/>
            <a:br/>
            <a:r>
              <a:t>const dbUrl = import.meta.env.VITE_NEON_DATABASE_URL;</a:t>
            </a:r>
            <a:br/>
            <a:r>
              <a:t>if (!dbUrl) console.error('Missing DB URL');</a:t>
            </a:r>
            <a:br/>
            <a:br/>
            <a:r>
              <a:t>export const sql = neon(dbUrl);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554480"/>
            <a:ext cx="643097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0" y="1737360"/>
            <a:ext cx="60652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284C7"/>
                </a:solidFill>
                <a:latin typeface="Liberation Sans"/>
              </a:defRPr>
            </a:pPr>
            <a:r>
              <a:t>3.2 在 Component 中使用 useEffect 讀取與渲染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2194560"/>
            <a:ext cx="6065215" cy="3931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49240" y="2286000"/>
            <a:ext cx="579089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  <a:latin typeface="Liberation Mono"/>
              </a:defRPr>
            </a:pPr>
            <a:r>
              <a:t>import React, { useState, useEffect } from 'react';</a:t>
            </a:r>
            <a:br/>
            <a:r>
              <a:t>import { sql } from '../db';</a:t>
            </a:r>
            <a:br/>
            <a:br/>
            <a:r>
              <a:t>export default function FerryList() {</a:t>
            </a:r>
            <a:br/>
            <a:r>
              <a:t>  const [data, setData] = useState([]);</a:t>
            </a:r>
            <a:br/>
            <a:r>
              <a:t>  const [loading, setLoading] = useState(true);</a:t>
            </a:r>
            <a:br/>
            <a:br/>
            <a:r>
              <a:t>  useEffect(() =&gt; {</a:t>
            </a:r>
            <a:br/>
            <a:r>
              <a:t>    async function fetchData() {</a:t>
            </a:r>
            <a:br/>
            <a:r>
              <a:t>      try {</a:t>
            </a:r>
            <a:br/>
            <a:r>
              <a:t>        const result = await sql`SELECT * FROM ferries ORDER BY id ASC`;</a:t>
            </a:r>
            <a:br/>
            <a:r>
              <a:t>        setData(result);</a:t>
            </a:r>
            <a:br/>
            <a:r>
              <a:t>      } catch (err) { console.error('Neon DB Error:', err); }</a:t>
            </a:r>
            <a:br/>
            <a:r>
              <a:t>      finally { setLoading(false); }</a:t>
            </a:r>
            <a:br/>
            <a:r>
              <a:t>    }</a:t>
            </a:r>
            <a:br/>
            <a:r>
              <a:t>    fetchData();</a:t>
            </a:r>
            <a:br/>
            <a:r>
              <a:t>  }, []);</a:t>
            </a:r>
            <a:br/>
            <a:br/>
            <a:r>
              <a:t>  if (loading) return &lt;div&gt;⏳ 雲端連線中...&lt;/div&gt;;</a:t>
            </a:r>
            <a:br/>
            <a:r>
              <a:t>  return (</a:t>
            </a:r>
            <a:br/>
            <a:r>
              <a:t>    &lt;div&gt;</a:t>
            </a:r>
            <a:br/>
            <a:r>
              <a:t>      {data.map(item =&gt; &lt;div key={item.id}&gt;{item.route_name} - ${item.price}&lt;/div&gt;)}</a:t>
            </a:r>
            <a:br/>
            <a:r>
              <a:t>    &lt;/div&gt;</a:t>
            </a:r>
            <a:br/>
            <a:r>
              <a:t>  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Liberation Sans"/>
              </a:defRPr>
            </a:pPr>
            <a:r>
              <a:t>STEP 4 / VERCEL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Liberation Sans"/>
              </a:defRPr>
            </a:pPr>
            <a:r>
              <a:t>Vercel 雲端平台環境變數 (Environment Variables) 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4F46E5"/>
                </a:solidFill>
                <a:latin typeface="Liberation Sans"/>
              </a:defRPr>
            </a:pPr>
            <a:r>
              <a:t>4.1 進入 Vercel Project Settings</a:t>
            </a:r>
          </a:p>
          <a:p>
            <a:pPr>
              <a:defRPr sz="1300">
                <a:solidFill>
                  <a:srgbClr val="334155"/>
                </a:solidFill>
                <a:latin typeface="Liberation Sans"/>
              </a:defRPr>
            </a:pPr>
            <a:r>
              <a:t>登入 Vercel Dashboard，點選已綁定 GitHub 的專案，進入上方 「Settings」 選單。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072865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246120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4F46E5"/>
                </a:solidFill>
                <a:latin typeface="Liberation Sans"/>
              </a:defRPr>
            </a:pPr>
            <a:r>
              <a:t>4.2 設定 Key 與 Value</a:t>
            </a:r>
          </a:p>
          <a:p>
            <a:pPr>
              <a:defRPr sz="1300">
                <a:solidFill>
                  <a:srgbClr val="334155"/>
                </a:solidFill>
                <a:latin typeface="Liberation Sans"/>
              </a:defRPr>
            </a:pPr>
            <a:r>
              <a:t>點選左側 「Environment Variables」。 Key 輸入 VITE_NEON_DATABASE_URL，Value 貼上 Neon 連線字串。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1072865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800600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4F46E5"/>
                </a:solidFill>
                <a:latin typeface="Liberation Sans"/>
              </a:defRPr>
            </a:pPr>
            <a:r>
              <a:t>4.3 勾選 Target Environments</a:t>
            </a:r>
          </a:p>
          <a:p>
            <a:pPr>
              <a:defRPr sz="1300">
                <a:solidFill>
                  <a:srgbClr val="334155"/>
                </a:solidFill>
                <a:latin typeface="Liberation Sans"/>
              </a:defRPr>
            </a:pPr>
            <a:r>
              <a:t>勾選 Production, Preview, Development 三個環境，確保正式站與 PR 預覽站皆能連線，點擊 Save 儲存。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Liberation Sans"/>
              </a:defRPr>
            </a:pPr>
            <a:r>
              <a:t>STEP 5 / CI/CD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Liberation Sans"/>
              </a:defRPr>
            </a:pPr>
            <a:r>
              <a:t>體驗 CI/CD 流水線：只要 git push 30 秒自動更新全站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59669"/>
                </a:solidFill>
              </a:defRPr>
            </a:pPr>
            <a:r>
              <a:t>1. 本地完成 Commit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在本機完成 React 程式碼撰寫與測試後，執行：</a:t>
            </a:r>
            <a:br/>
            <a:br/>
            <a:r>
              <a:t>git add .</a:t>
            </a:r>
            <a:br/>
            <a:r>
              <a:t>git commit -m 'feat: connect Neon'</a:t>
            </a:r>
            <a:br/>
            <a:r>
              <a:t>git push origin 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284C7"/>
                </a:solidFill>
              </a:defRPr>
            </a:pPr>
            <a:r>
              <a:t>2. Vercel 自動建置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Vercel 接收到 GitHub Webhook 通知：</a:t>
            </a:r>
            <a:br/>
            <a:br/>
            <a:r>
              <a:t>• 自動拉取最新 Main 程式碼</a:t>
            </a:r>
            <a:br/>
            <a:r>
              <a:t>• 注入 Vercel 後台環境變數</a:t>
            </a:r>
            <a:br/>
            <a:r>
              <a:t>• 執行 npm run build 打包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97706"/>
                </a:solidFill>
              </a:defRPr>
            </a:pPr>
            <a:r>
              <a:t>3. 全球 CDN 即時生效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約 20-30 秒內完成發佈：</a:t>
            </a:r>
            <a:br/>
            <a:br/>
            <a:r>
              <a:t>• 全球使用者即時看到最新畫面</a:t>
            </a:r>
            <a:br/>
            <a:r>
              <a:t>• 成功從 Neon 抓取雲端資料</a:t>
            </a:r>
            <a:br/>
            <a:r>
              <a:t>• 告別手動 FTP 上傳時代！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6126480"/>
            <a:ext cx="10728655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61722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Liberation Sans"/>
              </a:defRPr>
            </a:pPr>
            <a:r>
              <a:t>🎉 核心價值：工程師只需專注於代碼品質與 Git 提交，部署發佈全部由 CI/CD 自動搞定！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Liberation Sans"/>
              </a:defRPr>
            </a:pPr>
            <a: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Liberation Sans"/>
              </a:defRPr>
            </a:pPr>
            <a:r>
              <a:t>Neon 與 Vercel 整合常見 4 大地雷與解決方案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0974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C2626"/>
                </a:solidFill>
              </a:defRPr>
            </a:pPr>
            <a:r>
              <a:t>地雷 1：Vercel 上線顯示 500 或抓不到資料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根本原因：Vercel 環境變數未設定，或設定後未點擊 Redeploy。</a:t>
            </a:r>
            <a:br/>
            <a:r>
              <a:t>正解：至 Vercel Settings 設定變數，並至 Deployments 點選 「Redeploy」。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554480"/>
            <a:ext cx="5175504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55664" y="1691640"/>
            <a:ext cx="480974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97706"/>
                </a:solidFill>
              </a:defRPr>
            </a:pPr>
            <a:r>
              <a:t>地雷 2：import.meta.env 讀出來是 undefined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根本原因：環境變數名稱未加上 VITE_ 前綴。</a:t>
            </a:r>
            <a:br/>
            <a:r>
              <a:t>正解：Vite 機制規定前端讀取變數必須改名為 VITE_NEON_DATABASE_URL。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75504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480974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C2626"/>
                </a:solidFill>
              </a:defRPr>
            </a:pPr>
            <a:r>
              <a:t>地雷 3：GitHub 收到資安密碼外洩警告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根本原因：不小心把含有密碼的 .env.local 上傳到 GitHub。</a:t>
            </a:r>
            <a:br/>
            <a:r>
              <a:t>正解：至 Neon 重置密碼，並執行 git rm --cached .env.local 加進 .gitignore。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4114800"/>
            <a:ext cx="5175504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55664" y="4251960"/>
            <a:ext cx="480974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97706"/>
                </a:solidFill>
              </a:defRPr>
            </a:pPr>
            <a:r>
              <a:t>地雷 4：過多連線導致 Database Timeout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根本原因：使用 Serverless 開發直連傳統 Connection。</a:t>
            </a:r>
            <a:br/>
            <a:r>
              <a:t>正解：複製 Neon 連線字串時，確認選取 Pooled connection 模式。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Liberation Sans"/>
              </a:defRPr>
            </a:pPr>
            <a:r>
              <a:t>VERIFICATION &amp;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Liberation Sans"/>
              </a:defRPr>
            </a:pPr>
            <a:r>
              <a:t>實務驗收：雲端資料讀取、表單寫入與手機 QR Code 測試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59669"/>
                </a:solidFill>
              </a:defRPr>
            </a:pPr>
            <a:r>
              <a:t>📋 課堂驗收四大檢查項目 (Acceptance Criteria)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☑️ 1. 雲端資料讀取 (SELECT)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    開啟 Vercel 生產網址，確認頁面能正確顯示來自 Neon 資料庫的航班/商品數據，Console 無 500 錯誤。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☑️ 2. 雲端資料寫入 (INSERT)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    透過前端表單新增一筆資料，確認資料成功寫入 Neon；重新整理頁面 (F5)，新資料依然存在不消失。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☑️ 3. 手機 RWD 真機體驗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    使用 Vercel 產出的 QR Code 用手機掃描，測試 375px 行動裝置螢幕無橫向捲軸，表單按鈕流暢易點擊。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☑️ 4. 資安防護審查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    檢查 GitHub 倉庫，確認無 .env.local 或任何 API Key/密碼外洩，專案健全度達 100%。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Liberation Sans"/>
              </a:defRPr>
            </a:pPr>
            <a:r>
              <a:t>SUMMARY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Liberation Sans"/>
              </a:defRPr>
            </a:pPr>
            <a:r>
              <a:t>全端整合四大核心帶走能力與工程最佳實踐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0974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59669"/>
                </a:solidFill>
              </a:defRPr>
            </a:pPr>
            <a:r>
              <a:t>1. 資安隔離第一原則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永遠不要將敏感金鑰 Commit 進 Git；本機用 .env.local，線上部署用 Vercel Environment Variables。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554480"/>
            <a:ext cx="5175504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55664" y="1691640"/>
            <a:ext cx="480974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284C7"/>
                </a:solidFill>
              </a:defRPr>
            </a:pPr>
            <a:r>
              <a:t>2. Serverless 雲端思維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善用 Neon Serverless Postgres 免費託管與自動縮放特性，實現零成本建置動態網頁資料庫。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75504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480974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F46E5"/>
                </a:solidFill>
              </a:defRPr>
            </a:pPr>
            <a:r>
              <a:t>3. 自動化 CI/CD 流水線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建立 git push ➔ GitHub ➔ Vercel 的自動化流程，讓程式碼變更在 30 秒內安全公開上線。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4114800"/>
            <a:ext cx="5175504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55664" y="4251960"/>
            <a:ext cx="480974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97706"/>
                </a:solidFill>
              </a:defRPr>
            </a:pPr>
            <a:r>
              <a:t>4. 團隊協作與 PR 預覽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搭配 Feature Branch 與 GitHub PR，善用 Vercel Preview Deploy 進行上線前同行審查。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Liberation Sans"/>
              </a:defRPr>
            </a:pPr>
            <a:r>
              <a:t>CI / CD</a:t>
            </a:r>
          </a:p>
          <a:p>
            <a:pPr>
              <a:defRPr sz="2400" b="1">
                <a:solidFill>
                  <a:srgbClr val="0F172A"/>
                </a:solidFill>
                <a:latin typeface="Liberation Sans"/>
              </a:defRPr>
            </a:pPr>
            <a:r>
              <a:t>體驗 CI/CD 自動化發佈：只要 `git push`，自動更新全站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現代敏捷軟體交付流水線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(Delivery Pipeline)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本地開發功能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➔ Push 至 Branch ➔ 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發布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PR ➔ 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同儕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Code Review ➔ 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合併進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Main ➔ 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Vercel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CI/CD 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自動構建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➔ 30 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秒內全站自動生效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！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• ✨ 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體驗感：告別傳統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FTP 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手動上傳檔案！每一次受保護的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Git 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Commit，都是一次安全、精準的線上部署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rPr lang="en-US" altLang="zh-TW" sz="130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CI</a:t>
            </a:r>
            <a:r>
              <a:rPr lang="zh-TW" altLang="en-US" sz="130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130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Continuous Integration</a:t>
            </a:r>
            <a:r>
              <a:rPr lang="zh-TW" altLang="en-US" sz="130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，持續整合）： 每次有人把新的程式碼推送（</a:t>
            </a:r>
            <a:r>
              <a:rPr lang="en-US" altLang="zh-TW" sz="130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push</a:t>
            </a:r>
            <a:r>
              <a:rPr lang="zh-TW" altLang="en-US" sz="130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）上去時，系統會自動進行檢查與編譯，確保這段新的程式碼不會把整台機器搞壞。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rPr lang="en-US" altLang="zh-TW" sz="130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CD</a:t>
            </a:r>
            <a:r>
              <a:rPr lang="zh-TW" altLang="en-US" sz="130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130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Continuous Deployment</a:t>
            </a:r>
            <a:r>
              <a:rPr lang="zh-TW" altLang="en-US" sz="130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，持續部署）： 檢查沒問題後，系統會自動將程式碼上架發佈到真正的線上網站（</a:t>
            </a:r>
            <a:r>
              <a:rPr lang="en-US" altLang="zh-TW" sz="130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Production</a:t>
            </a:r>
            <a:r>
              <a:rPr lang="zh-TW" altLang="en-US" sz="130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），不需要人工上傳。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Liberation Sans"/>
              </a:defRPr>
            </a:pPr>
            <a:r>
              <a:t>REAL DEVICE TEST</a:t>
            </a:r>
          </a:p>
          <a:p>
            <a:pPr>
              <a:defRPr sz="2400" b="1">
                <a:solidFill>
                  <a:srgbClr val="0F172A"/>
                </a:solidFill>
                <a:latin typeface="Liberation Sans"/>
              </a:defRPr>
            </a:pPr>
            <a:r>
              <a:t>現場真機測試：產出 QR Code 進行行動版與 Neon 驗收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📱 真機驗收 3 大重點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1. QR Code 掃描：將 Vercel 網址生成 QR Code 投射於螢幕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2. 手機排版測試：全組拿手機開啟，確認 375px 無橫向捲軸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3. Neon 表單寫入：用手機送出一筆資料，確認 Neon 成功儲存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2563EB"/>
                </a:solidFill>
                <a:latin typeface="Liberation Sans"/>
              </a:defRPr>
            </a:pPr>
            <a:r>
              <a:t>🔍 除錯反饋體驗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若手機開啟發現樣式爆版，立即在本地修復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git commit -&gt; git push -&gt; Vercel 自動更新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手機重新整理網頁，即刻確認修正結果！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Liberation Sans"/>
              </a:defRPr>
            </a:pPr>
            <a:r>
              <a:t>DELIVERABLES</a:t>
            </a:r>
          </a:p>
          <a:p>
            <a:pPr>
              <a:defRPr sz="2400" b="1">
                <a:solidFill>
                  <a:srgbClr val="0F172A"/>
                </a:solidFill>
                <a:latin typeface="Liberation Sans"/>
              </a:defRPr>
            </a:pPr>
            <a:r>
              <a:t>專題成果發表：評分 6 大交付物對照清單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1. 開發任務卡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含有清晰的 MVP 功能與驗收條件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645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2. Prompt 協作紀錄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與 AI 溝通的結構化 Prompt 過程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80" y="1645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3. Component Code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模組化、可讀性高的 React 程式碼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4. GitHub 團隊 Repo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包含分支紀錄與 PR 審查軌跡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3931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5. Vercel 上線網址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具備 HTTPS 與行動版流暢排版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3931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6. Neon 資料庫連結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動態雲端資料讀取與寫入展示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642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Liberation Sans"/>
              </a:defRPr>
            </a:pPr>
            <a:r>
              <a:rPr dirty="0"/>
              <a:t>PRESENTATION</a:t>
            </a:r>
          </a:p>
          <a:p>
            <a:pPr>
              <a:defRPr sz="2400" b="1">
                <a:solidFill>
                  <a:srgbClr val="0F172A"/>
                </a:solidFill>
                <a:latin typeface="Liberation Sans"/>
              </a:defRPr>
            </a:pPr>
            <a:r>
              <a:rPr dirty="0" err="1"/>
              <a:t>簡報</a:t>
            </a:r>
            <a:r>
              <a:rPr dirty="0"/>
              <a:t> 5 </a:t>
            </a:r>
            <a:r>
              <a:rPr dirty="0" err="1"/>
              <a:t>大展示重點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rPr dirty="0" err="1"/>
              <a:t>簡報架構與</a:t>
            </a:r>
            <a:r>
              <a:rPr dirty="0"/>
              <a:t> Live Demo </a:t>
            </a:r>
            <a:r>
              <a:rPr dirty="0" err="1"/>
              <a:t>時間分配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rPr dirty="0"/>
              <a:t>• 1. </a:t>
            </a:r>
            <a:r>
              <a:rPr dirty="0" err="1"/>
              <a:t>解決什麼問題</a:t>
            </a:r>
            <a:r>
              <a:rPr dirty="0"/>
              <a:t>？（1 min）：</a:t>
            </a:r>
            <a:r>
              <a:rPr dirty="0" err="1"/>
              <a:t>介紹目標使用者與核心痛點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rPr dirty="0"/>
              <a:t>• 2. MVP </a:t>
            </a:r>
            <a:r>
              <a:rPr dirty="0" err="1"/>
              <a:t>功能</a:t>
            </a:r>
            <a:r>
              <a:rPr dirty="0"/>
              <a:t> Live Demo（2 min）：</a:t>
            </a:r>
            <a:r>
              <a:rPr dirty="0" err="1"/>
              <a:t>展示主要操作路徑與</a:t>
            </a:r>
            <a:r>
              <a:rPr dirty="0"/>
              <a:t> Neon </a:t>
            </a:r>
            <a:r>
              <a:rPr dirty="0" err="1"/>
              <a:t>動態資料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rPr dirty="0"/>
              <a:t>• 3. Git 團隊協作點滴（1 min）：</a:t>
            </a:r>
            <a:r>
              <a:rPr dirty="0" err="1"/>
              <a:t>分享</a:t>
            </a:r>
            <a:r>
              <a:rPr dirty="0"/>
              <a:t> Branch 與 PR </a:t>
            </a:r>
            <a:r>
              <a:rPr dirty="0" err="1"/>
              <a:t>同儕審查經歷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rPr dirty="0"/>
              <a:t>• 4. AI 協作反思（1 min）：AI </a:t>
            </a:r>
            <a:r>
              <a:rPr dirty="0" err="1"/>
              <a:t>在開發中做錯什麼？你們如何引導修正</a:t>
            </a:r>
            <a:r>
              <a:rPr dirty="0"/>
              <a:t>？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rPr dirty="0"/>
              <a:t>• 5. </a:t>
            </a:r>
            <a:r>
              <a:rPr dirty="0" err="1"/>
              <a:t>評委</a:t>
            </a:r>
            <a:r>
              <a:rPr dirty="0"/>
              <a:t> Q&amp;A（1 min）：</a:t>
            </a:r>
            <a:r>
              <a:rPr dirty="0" err="1"/>
              <a:t>回答評委與同學的現場提問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642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Liberation Sans"/>
              </a:defRPr>
            </a:pPr>
            <a:r>
              <a:rPr dirty="0"/>
              <a:t>SHOWCASE</a:t>
            </a:r>
          </a:p>
          <a:p>
            <a:pPr>
              <a:defRPr sz="2400" b="1">
                <a:solidFill>
                  <a:srgbClr val="0F172A"/>
                </a:solidFill>
                <a:latin typeface="Liberation Sans"/>
              </a:defRPr>
            </a:pPr>
            <a:r>
              <a:rPr lang="zh-TW" altLang="en-US" dirty="0"/>
              <a:t>成</a:t>
            </a:r>
            <a:r>
              <a:rPr lang="zh-TW" altLang="en-US" sz="2400" b="1" dirty="0">
                <a:solidFill>
                  <a:srgbClr val="0F172A"/>
                </a:solidFill>
                <a:latin typeface="Liberation Sans"/>
              </a:rPr>
              <a:t>果</a:t>
            </a:r>
            <a:r>
              <a:rPr sz="2400" b="1" dirty="0" err="1">
                <a:solidFill>
                  <a:srgbClr val="0F172A"/>
                </a:solidFill>
                <a:latin typeface="Liberation Sans"/>
              </a:rPr>
              <a:t>現場發表與評語</a:t>
            </a:r>
            <a:r>
              <a:rPr dirty="0" err="1"/>
              <a:t>：四大專題</a:t>
            </a:r>
            <a:r>
              <a:rPr dirty="0"/>
              <a:t> Live 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rPr dirty="0" err="1"/>
              <a:t>專題</a:t>
            </a:r>
            <a:r>
              <a:rPr dirty="0"/>
              <a:t> </a:t>
            </a:r>
            <a:r>
              <a:rPr dirty="0" err="1"/>
              <a:t>A：客船查詢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rPr dirty="0"/>
              <a:t>• Neon </a:t>
            </a:r>
            <a:r>
              <a:rPr dirty="0" err="1"/>
              <a:t>雲端航班資料庫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rPr dirty="0"/>
              <a:t>• </a:t>
            </a:r>
            <a:r>
              <a:rPr dirty="0" err="1"/>
              <a:t>起終點篩選與預約表單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rPr dirty="0" err="1"/>
              <a:t>專題</a:t>
            </a:r>
            <a:r>
              <a:rPr dirty="0"/>
              <a:t> </a:t>
            </a:r>
            <a:r>
              <a:rPr dirty="0" err="1"/>
              <a:t>B：美食地圖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rPr dirty="0"/>
              <a:t>• Neon </a:t>
            </a:r>
            <a:r>
              <a:rPr dirty="0" err="1"/>
              <a:t>店家與星級評分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rPr dirty="0"/>
              <a:t>• </a:t>
            </a:r>
            <a:r>
              <a:rPr dirty="0" err="1"/>
              <a:t>營業狀態篩選與彈窗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專題 C：社區活動地圖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Neon 報名資料表單寫入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名額進度條與防呆驗證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專題 D：個人智慧履歷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Neon 留言板動態寫入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錨點滾動與作品集展示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Liberation Sans"/>
              </a:defRPr>
            </a:pPr>
            <a:r>
              <a:rPr dirty="0"/>
              <a:t>RUBRICS</a:t>
            </a:r>
          </a:p>
          <a:p>
            <a:pPr>
              <a:defRPr sz="2400" b="1">
                <a:solidFill>
                  <a:srgbClr val="0F172A"/>
                </a:solidFill>
                <a:latin typeface="Liberation Sans"/>
              </a:defRPr>
            </a:pPr>
            <a:r>
              <a:rPr dirty="0" err="1"/>
              <a:t>成果發表評審指標與權重</a:t>
            </a:r>
            <a:r>
              <a:rPr dirty="0"/>
              <a:t> (Rubrics Design)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1. 核心需求完成度 (30%)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MVP 主流程完整可操作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表單防呆與驗證機制順暢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2. RWD 與 UX 體驗 (25%)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375px 行動版無橫向捲軸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UI 視覺美觀且階層清晰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3. Git 協作與 Neon 技術 (25%)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有 Branch 與 PR 合併紀錄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成功連線 Neon 存取資料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4. 簡報發表與 Live Demo (20%)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時間控制精準 (6min)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展示清晰、AI 反思深刻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Liberation Sans"/>
              </a:defRPr>
            </a:pPr>
            <a:r>
              <a:t>CONCLUSION</a:t>
            </a:r>
          </a:p>
          <a:p>
            <a:pPr>
              <a:defRPr sz="2400" b="1">
                <a:solidFill>
                  <a:srgbClr val="0F172A"/>
                </a:solidFill>
                <a:latin typeface="Liberation Sans"/>
              </a:defRPr>
            </a:pPr>
            <a:r>
              <a:t>課程里程碑與未來進修學習資源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🎉 恭喜完成 AI 輔助前端與雲端部署實務課程！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恭喜大家成功完成第一個整合 Git 團隊協作、Neon 雲端資料庫與 Vercel 部署的 AI 網頁專案！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🔗 推薦未來進修資源：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  • Google AI Studio Console: aistudio.google.com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  • Neon Serverless Postgres Docs: neon.tech/docs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  • Vercel Platform Guide: vercel.com/docs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  • React 官方繁體中文教學: zh-hant.react.dev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Liberation Sans"/>
              </a:defRPr>
            </a:pPr>
            <a:r>
              <a:t>• 問與答時間 (Q&amp;A) — 祝大家在 AI 時代的軟體開發之旅一路順風！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2489</Words>
  <Application>Microsoft Office PowerPoint</Application>
  <PresentationFormat>寬螢幕</PresentationFormat>
  <Paragraphs>310</Paragraphs>
  <Slides>26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1" baseType="lpstr">
      <vt:lpstr>Liberation Sans</vt:lpstr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Leon Chang</cp:lastModifiedBy>
  <cp:revision>6</cp:revision>
  <dcterms:created xsi:type="dcterms:W3CDTF">2013-01-27T09:14:16Z</dcterms:created>
  <dcterms:modified xsi:type="dcterms:W3CDTF">2026-09-11T20:08:50Z</dcterms:modified>
  <cp:category/>
</cp:coreProperties>
</file>